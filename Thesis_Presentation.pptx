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21383625" cy="30240288"/>
  <p:notesSz cx="6858000" cy="9144000"/>
  <p:defaultTextStyle>
    <a:defPPr>
      <a:defRPr lang="tr-TR"/>
    </a:defPPr>
    <a:lvl1pPr marL="0" algn="l" defTabSz="2477933" rtl="0" eaLnBrk="1" latinLnBrk="0" hangingPunct="1">
      <a:defRPr sz="4878" kern="1200">
        <a:solidFill>
          <a:schemeClr val="tx1"/>
        </a:solidFill>
        <a:latin typeface="+mn-lt"/>
        <a:ea typeface="+mn-ea"/>
        <a:cs typeface="+mn-cs"/>
      </a:defRPr>
    </a:lvl1pPr>
    <a:lvl2pPr marL="1238966" algn="l" defTabSz="2477933" rtl="0" eaLnBrk="1" latinLnBrk="0" hangingPunct="1">
      <a:defRPr sz="4878" kern="1200">
        <a:solidFill>
          <a:schemeClr val="tx1"/>
        </a:solidFill>
        <a:latin typeface="+mn-lt"/>
        <a:ea typeface="+mn-ea"/>
        <a:cs typeface="+mn-cs"/>
      </a:defRPr>
    </a:lvl2pPr>
    <a:lvl3pPr marL="2477933" algn="l" defTabSz="2477933" rtl="0" eaLnBrk="1" latinLnBrk="0" hangingPunct="1">
      <a:defRPr sz="4878" kern="1200">
        <a:solidFill>
          <a:schemeClr val="tx1"/>
        </a:solidFill>
        <a:latin typeface="+mn-lt"/>
        <a:ea typeface="+mn-ea"/>
        <a:cs typeface="+mn-cs"/>
      </a:defRPr>
    </a:lvl3pPr>
    <a:lvl4pPr marL="3716899" algn="l" defTabSz="2477933" rtl="0" eaLnBrk="1" latinLnBrk="0" hangingPunct="1">
      <a:defRPr sz="4878" kern="1200">
        <a:solidFill>
          <a:schemeClr val="tx1"/>
        </a:solidFill>
        <a:latin typeface="+mn-lt"/>
        <a:ea typeface="+mn-ea"/>
        <a:cs typeface="+mn-cs"/>
      </a:defRPr>
    </a:lvl4pPr>
    <a:lvl5pPr marL="4955865" algn="l" defTabSz="2477933" rtl="0" eaLnBrk="1" latinLnBrk="0" hangingPunct="1">
      <a:defRPr sz="4878" kern="1200">
        <a:solidFill>
          <a:schemeClr val="tx1"/>
        </a:solidFill>
        <a:latin typeface="+mn-lt"/>
        <a:ea typeface="+mn-ea"/>
        <a:cs typeface="+mn-cs"/>
      </a:defRPr>
    </a:lvl5pPr>
    <a:lvl6pPr marL="6194831" algn="l" defTabSz="2477933" rtl="0" eaLnBrk="1" latinLnBrk="0" hangingPunct="1">
      <a:defRPr sz="4878" kern="1200">
        <a:solidFill>
          <a:schemeClr val="tx1"/>
        </a:solidFill>
        <a:latin typeface="+mn-lt"/>
        <a:ea typeface="+mn-ea"/>
        <a:cs typeface="+mn-cs"/>
      </a:defRPr>
    </a:lvl6pPr>
    <a:lvl7pPr marL="7433798" algn="l" defTabSz="2477933" rtl="0" eaLnBrk="1" latinLnBrk="0" hangingPunct="1">
      <a:defRPr sz="4878" kern="1200">
        <a:solidFill>
          <a:schemeClr val="tx1"/>
        </a:solidFill>
        <a:latin typeface="+mn-lt"/>
        <a:ea typeface="+mn-ea"/>
        <a:cs typeface="+mn-cs"/>
      </a:defRPr>
    </a:lvl7pPr>
    <a:lvl8pPr marL="8672764" algn="l" defTabSz="2477933" rtl="0" eaLnBrk="1" latinLnBrk="0" hangingPunct="1">
      <a:defRPr sz="4878" kern="1200">
        <a:solidFill>
          <a:schemeClr val="tx1"/>
        </a:solidFill>
        <a:latin typeface="+mn-lt"/>
        <a:ea typeface="+mn-ea"/>
        <a:cs typeface="+mn-cs"/>
      </a:defRPr>
    </a:lvl8pPr>
    <a:lvl9pPr marL="9911730" algn="l" defTabSz="2477933" rtl="0" eaLnBrk="1" latinLnBrk="0" hangingPunct="1">
      <a:defRPr sz="487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24" userDrawn="1">
          <p15:clr>
            <a:srgbClr val="A4A3A4"/>
          </p15:clr>
        </p15:guide>
        <p15:guide id="2" pos="673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CFD5EA"/>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468F01-2380-4689-AEC3-BBFA2AE3AC7F}" v="17" dt="2025-05-31T21:49:11.748"/>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ema Uygulanmış Stil 1 - Vurgu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A111915-BE36-4E01-A7E5-04B1672EAD32}" styleName="Açık Stil 2 - Vurgu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C083E6E3-FA7D-4D7B-A595-EF9225AFEA82}" styleName="Açık Stil 1 - Vurgu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E25E649-3F16-4E02-A733-19D2CDBF48F0}" styleName="Orta Stil 3 - Vurgu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DF18680-E054-41AD-8BC1-D1AEF772440D}" styleName="Orta Stil 2 - Vurgu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Orta Stil 3 - Vurgu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95" autoAdjust="0"/>
    <p:restoredTop sz="94660"/>
  </p:normalViewPr>
  <p:slideViewPr>
    <p:cSldViewPr snapToGrid="0">
      <p:cViewPr>
        <p:scale>
          <a:sx n="66" d="100"/>
          <a:sy n="66" d="100"/>
        </p:scale>
        <p:origin x="38" y="-6442"/>
      </p:cViewPr>
      <p:guideLst>
        <p:guide orient="horz" pos="9524"/>
        <p:guide pos="6735"/>
      </p:guideLst>
    </p:cSldViewPr>
  </p:slideViewPr>
  <p:notesTextViewPr>
    <p:cViewPr>
      <p:scale>
        <a:sx n="1" d="1"/>
        <a:sy n="1" d="1"/>
      </p:scale>
      <p:origin x="0" y="0"/>
    </p:cViewPr>
  </p:notesTextViewPr>
  <p:notesViewPr>
    <p:cSldViewPr snapToGrid="0">
      <p:cViewPr varScale="1">
        <p:scale>
          <a:sx n="88" d="100"/>
          <a:sy n="88" d="100"/>
        </p:scale>
        <p:origin x="3822" y="108"/>
      </p:cViewPr>
      <p:guideLst/>
    </p:cSldViewPr>
  </p:notes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clal Meriç Yiğit" userId="9bd2df451618e202" providerId="LiveId" clId="{ACAD0383-0FE7-4539-8770-719E6A6855DE}"/>
    <pc:docChg chg="modSld">
      <pc:chgData name="İclal Meriç Yiğit" userId="9bd2df451618e202" providerId="LiveId" clId="{ACAD0383-0FE7-4539-8770-719E6A6855DE}" dt="2025-06-01T07:26:19.314" v="5" actId="20577"/>
      <pc:docMkLst>
        <pc:docMk/>
      </pc:docMkLst>
      <pc:sldChg chg="modSp mod">
        <pc:chgData name="İclal Meriç Yiğit" userId="9bd2df451618e202" providerId="LiveId" clId="{ACAD0383-0FE7-4539-8770-719E6A6855DE}" dt="2025-06-01T07:26:19.314" v="5" actId="20577"/>
        <pc:sldMkLst>
          <pc:docMk/>
          <pc:sldMk cId="2417010708" sldId="256"/>
        </pc:sldMkLst>
        <pc:spChg chg="mod">
          <ac:chgData name="İclal Meriç Yiğit" userId="9bd2df451618e202" providerId="LiveId" clId="{ACAD0383-0FE7-4539-8770-719E6A6855DE}" dt="2025-06-01T07:26:19.314" v="5" actId="20577"/>
          <ac:spMkLst>
            <pc:docMk/>
            <pc:sldMk cId="2417010708" sldId="256"/>
            <ac:spMk id="6" creationId="{00000000-0000-0000-0000-000000000000}"/>
          </ac:spMkLst>
        </pc:spChg>
        <pc:graphicFrameChg chg="modGraphic">
          <ac:chgData name="İclal Meriç Yiğit" userId="9bd2df451618e202" providerId="LiveId" clId="{ACAD0383-0FE7-4539-8770-719E6A6855DE}" dt="2025-06-01T07:25:26.925" v="2" actId="20577"/>
          <ac:graphicFrameMkLst>
            <pc:docMk/>
            <pc:sldMk cId="2417010708" sldId="256"/>
            <ac:graphicFrameMk id="4" creationId="{64F50E59-8412-21BE-A58E-34D4D5E12C79}"/>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6B4E5-381F-431E-9F07-EBDEBB714F97}" type="datetimeFigureOut">
              <a:rPr lang="tr-TR" smtClean="0"/>
              <a:t>1.06.2025</a:t>
            </a:fld>
            <a:endParaRPr lang="tr-TR"/>
          </a:p>
        </p:txBody>
      </p:sp>
      <p:sp>
        <p:nvSpPr>
          <p:cNvPr id="4" name="Slayt Görüntüsü Yer Tutucusu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CBC26-5DB0-41AA-8975-48174A3F662D}" type="slidenum">
              <a:rPr lang="tr-TR" smtClean="0"/>
              <a:t>‹#›</a:t>
            </a:fld>
            <a:endParaRPr lang="tr-TR"/>
          </a:p>
        </p:txBody>
      </p:sp>
    </p:spTree>
    <p:extLst>
      <p:ext uri="{BB962C8B-B14F-4D97-AF65-F5344CB8AC3E}">
        <p14:creationId xmlns:p14="http://schemas.microsoft.com/office/powerpoint/2010/main" val="1545454303"/>
      </p:ext>
    </p:extLst>
  </p:cSld>
  <p:clrMap bg1="lt1" tx1="dk1" bg2="lt2" tx2="dk2" accent1="accent1" accent2="accent2" accent3="accent3" accent4="accent4" accent5="accent5" accent6="accent6" hlink="hlink" folHlink="folHlink"/>
  <p:notesStyle>
    <a:lvl1pPr marL="0" algn="l" defTabSz="2477933" rtl="0" eaLnBrk="1" latinLnBrk="0" hangingPunct="1">
      <a:defRPr sz="3252" kern="1200">
        <a:solidFill>
          <a:schemeClr val="tx1"/>
        </a:solidFill>
        <a:latin typeface="+mn-lt"/>
        <a:ea typeface="+mn-ea"/>
        <a:cs typeface="+mn-cs"/>
      </a:defRPr>
    </a:lvl1pPr>
    <a:lvl2pPr marL="1238966" algn="l" defTabSz="2477933" rtl="0" eaLnBrk="1" latinLnBrk="0" hangingPunct="1">
      <a:defRPr sz="3252" kern="1200">
        <a:solidFill>
          <a:schemeClr val="tx1"/>
        </a:solidFill>
        <a:latin typeface="+mn-lt"/>
        <a:ea typeface="+mn-ea"/>
        <a:cs typeface="+mn-cs"/>
      </a:defRPr>
    </a:lvl2pPr>
    <a:lvl3pPr marL="2477933" algn="l" defTabSz="2477933" rtl="0" eaLnBrk="1" latinLnBrk="0" hangingPunct="1">
      <a:defRPr sz="3252" kern="1200">
        <a:solidFill>
          <a:schemeClr val="tx1"/>
        </a:solidFill>
        <a:latin typeface="+mn-lt"/>
        <a:ea typeface="+mn-ea"/>
        <a:cs typeface="+mn-cs"/>
      </a:defRPr>
    </a:lvl3pPr>
    <a:lvl4pPr marL="3716899" algn="l" defTabSz="2477933" rtl="0" eaLnBrk="1" latinLnBrk="0" hangingPunct="1">
      <a:defRPr sz="3252" kern="1200">
        <a:solidFill>
          <a:schemeClr val="tx1"/>
        </a:solidFill>
        <a:latin typeface="+mn-lt"/>
        <a:ea typeface="+mn-ea"/>
        <a:cs typeface="+mn-cs"/>
      </a:defRPr>
    </a:lvl4pPr>
    <a:lvl5pPr marL="4955865" algn="l" defTabSz="2477933" rtl="0" eaLnBrk="1" latinLnBrk="0" hangingPunct="1">
      <a:defRPr sz="3252" kern="1200">
        <a:solidFill>
          <a:schemeClr val="tx1"/>
        </a:solidFill>
        <a:latin typeface="+mn-lt"/>
        <a:ea typeface="+mn-ea"/>
        <a:cs typeface="+mn-cs"/>
      </a:defRPr>
    </a:lvl5pPr>
    <a:lvl6pPr marL="6194831" algn="l" defTabSz="2477933" rtl="0" eaLnBrk="1" latinLnBrk="0" hangingPunct="1">
      <a:defRPr sz="3252" kern="1200">
        <a:solidFill>
          <a:schemeClr val="tx1"/>
        </a:solidFill>
        <a:latin typeface="+mn-lt"/>
        <a:ea typeface="+mn-ea"/>
        <a:cs typeface="+mn-cs"/>
      </a:defRPr>
    </a:lvl6pPr>
    <a:lvl7pPr marL="7433798" algn="l" defTabSz="2477933" rtl="0" eaLnBrk="1" latinLnBrk="0" hangingPunct="1">
      <a:defRPr sz="3252" kern="1200">
        <a:solidFill>
          <a:schemeClr val="tx1"/>
        </a:solidFill>
        <a:latin typeface="+mn-lt"/>
        <a:ea typeface="+mn-ea"/>
        <a:cs typeface="+mn-cs"/>
      </a:defRPr>
    </a:lvl7pPr>
    <a:lvl8pPr marL="8672764" algn="l" defTabSz="2477933" rtl="0" eaLnBrk="1" latinLnBrk="0" hangingPunct="1">
      <a:defRPr sz="3252" kern="1200">
        <a:solidFill>
          <a:schemeClr val="tx1"/>
        </a:solidFill>
        <a:latin typeface="+mn-lt"/>
        <a:ea typeface="+mn-ea"/>
        <a:cs typeface="+mn-cs"/>
      </a:defRPr>
    </a:lvl8pPr>
    <a:lvl9pPr marL="9911730" algn="l" defTabSz="2477933" rtl="0" eaLnBrk="1" latinLnBrk="0" hangingPunct="1">
      <a:defRPr sz="325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871CBC26-5DB0-41AA-8975-48174A3F662D}" type="slidenum">
              <a:rPr lang="tr-TR" smtClean="0"/>
              <a:t>1</a:t>
            </a:fld>
            <a:endParaRPr lang="tr-TR"/>
          </a:p>
        </p:txBody>
      </p:sp>
    </p:spTree>
    <p:extLst>
      <p:ext uri="{BB962C8B-B14F-4D97-AF65-F5344CB8AC3E}">
        <p14:creationId xmlns:p14="http://schemas.microsoft.com/office/powerpoint/2010/main" val="3032317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49049"/>
            <a:ext cx="18176081" cy="10528100"/>
          </a:xfrm>
        </p:spPr>
        <p:txBody>
          <a:bodyPr anchor="b"/>
          <a:lstStyle>
            <a:lvl1pPr algn="ctr">
              <a:defRPr sz="14031"/>
            </a:lvl1pPr>
          </a:lstStyle>
          <a:p>
            <a:r>
              <a:rPr lang="tr-TR"/>
              <a:t>Asıl başlık stili için tıklatın</a:t>
            </a:r>
            <a:endParaRPr lang="en-US" dirty="0"/>
          </a:p>
        </p:txBody>
      </p:sp>
      <p:sp>
        <p:nvSpPr>
          <p:cNvPr id="3" name="Subtitle 2"/>
          <p:cNvSpPr>
            <a:spLocks noGrp="1"/>
          </p:cNvSpPr>
          <p:nvPr>
            <p:ph type="subTitle" idx="1"/>
          </p:nvPr>
        </p:nvSpPr>
        <p:spPr>
          <a:xfrm>
            <a:off x="2672953" y="15883154"/>
            <a:ext cx="16037719" cy="730106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tr-TR"/>
              <a:t>Asıl alt başlık stilini düzenlemek için tıklatın</a:t>
            </a:r>
            <a:endParaRPr lang="en-US" dirty="0"/>
          </a:p>
        </p:txBody>
      </p:sp>
      <p:sp>
        <p:nvSpPr>
          <p:cNvPr id="4" name="Date Placeholder 3"/>
          <p:cNvSpPr>
            <a:spLocks noGrp="1"/>
          </p:cNvSpPr>
          <p:nvPr>
            <p:ph type="dt" sz="half" idx="10"/>
          </p:nvPr>
        </p:nvSpPr>
        <p:spPr/>
        <p:txBody>
          <a:bodyPr/>
          <a:lstStyle/>
          <a:p>
            <a:fld id="{9ADE7B59-3C72-4FE6-A986-5C935952231C}" type="datetimeFigureOut">
              <a:rPr lang="tr-TR" smtClean="0"/>
              <a:t>1.06.2025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2448364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ADE7B59-3C72-4FE6-A986-5C935952231C}" type="datetimeFigureOut">
              <a:rPr lang="tr-TR" smtClean="0"/>
              <a:t>1.06.2025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2882584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1458988" y="7539080"/>
            <a:ext cx="18443377" cy="12579118"/>
          </a:xfrm>
        </p:spPr>
        <p:txBody>
          <a:bodyPr anchor="b"/>
          <a:lstStyle>
            <a:lvl1pPr>
              <a:defRPr sz="14031"/>
            </a:lvl1pPr>
          </a:lstStyle>
          <a:p>
            <a:r>
              <a:rPr lang="tr-TR"/>
              <a:t>Asıl başlık stili için tıklatın</a:t>
            </a:r>
            <a:endParaRPr lang="en-US" dirty="0"/>
          </a:p>
        </p:txBody>
      </p:sp>
      <p:sp>
        <p:nvSpPr>
          <p:cNvPr id="3" name="Text Placeholder 2"/>
          <p:cNvSpPr>
            <a:spLocks noGrp="1"/>
          </p:cNvSpPr>
          <p:nvPr>
            <p:ph type="body" idx="1"/>
          </p:nvPr>
        </p:nvSpPr>
        <p:spPr>
          <a:xfrm>
            <a:off x="1458988" y="20237201"/>
            <a:ext cx="18443377" cy="6615061"/>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tr-TR"/>
              <a:t>Asıl metin stillerini düzenlemek için tıklatın</a:t>
            </a:r>
          </a:p>
        </p:txBody>
      </p:sp>
      <p:sp>
        <p:nvSpPr>
          <p:cNvPr id="4" name="Date Placeholder 3"/>
          <p:cNvSpPr>
            <a:spLocks noGrp="1"/>
          </p:cNvSpPr>
          <p:nvPr>
            <p:ph type="dt" sz="half" idx="10"/>
          </p:nvPr>
        </p:nvSpPr>
        <p:spPr/>
        <p:txBody>
          <a:bodyPr/>
          <a:lstStyle/>
          <a:p>
            <a:fld id="{9ADE7B59-3C72-4FE6-A986-5C935952231C}" type="datetimeFigureOut">
              <a:rPr lang="tr-TR" smtClean="0"/>
              <a:t>1.06.2025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3445911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1470124" y="8050077"/>
            <a:ext cx="9088041" cy="19187185"/>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10825460" y="8050077"/>
            <a:ext cx="9088041" cy="19187185"/>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9ADE7B59-3C72-4FE6-A986-5C935952231C}" type="datetimeFigureOut">
              <a:rPr lang="tr-TR" smtClean="0"/>
              <a:t>1.06.2025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3658758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0022"/>
            <a:ext cx="18443377" cy="5845058"/>
          </a:xfrm>
        </p:spPr>
        <p:txBody>
          <a:bodyPr/>
          <a:lstStyle/>
          <a:p>
            <a:r>
              <a:rPr lang="tr-TR"/>
              <a:t>Asıl başlık stili için tıklatın</a:t>
            </a:r>
            <a:endParaRPr lang="en-US" dirty="0"/>
          </a:p>
        </p:txBody>
      </p:sp>
      <p:sp>
        <p:nvSpPr>
          <p:cNvPr id="3" name="Text Placeholder 2"/>
          <p:cNvSpPr>
            <a:spLocks noGrp="1"/>
          </p:cNvSpPr>
          <p:nvPr>
            <p:ph type="body" idx="1"/>
          </p:nvPr>
        </p:nvSpPr>
        <p:spPr>
          <a:xfrm>
            <a:off x="1472912" y="7413073"/>
            <a:ext cx="9046274" cy="3633032"/>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tr-TR"/>
              <a:t>Asıl metin stillerini düzenlemek için tıklatın</a:t>
            </a:r>
          </a:p>
        </p:txBody>
      </p:sp>
      <p:sp>
        <p:nvSpPr>
          <p:cNvPr id="4" name="Content Placeholder 3"/>
          <p:cNvSpPr>
            <a:spLocks noGrp="1"/>
          </p:cNvSpPr>
          <p:nvPr>
            <p:ph sz="half" idx="2"/>
          </p:nvPr>
        </p:nvSpPr>
        <p:spPr>
          <a:xfrm>
            <a:off x="1472912" y="11046105"/>
            <a:ext cx="9046274" cy="16247157"/>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10825461" y="7413073"/>
            <a:ext cx="9090826" cy="3633032"/>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tr-TR"/>
              <a:t>Asıl metin stillerini düzenlemek için tıklatın</a:t>
            </a:r>
          </a:p>
        </p:txBody>
      </p:sp>
      <p:sp>
        <p:nvSpPr>
          <p:cNvPr id="6" name="Content Placeholder 5"/>
          <p:cNvSpPr>
            <a:spLocks noGrp="1"/>
          </p:cNvSpPr>
          <p:nvPr>
            <p:ph sz="quarter" idx="4"/>
          </p:nvPr>
        </p:nvSpPr>
        <p:spPr>
          <a:xfrm>
            <a:off x="10825461" y="11046105"/>
            <a:ext cx="9090826" cy="16247157"/>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9ADE7B59-3C72-4FE6-A986-5C935952231C}" type="datetimeFigureOut">
              <a:rPr lang="tr-TR" smtClean="0"/>
              <a:t>1.06.2025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3378847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9ADE7B59-3C72-4FE6-A986-5C935952231C}" type="datetimeFigureOut">
              <a:rPr lang="tr-TR" smtClean="0"/>
              <a:t>1.06.2025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1894933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DE7B59-3C72-4FE6-A986-5C935952231C}" type="datetimeFigureOut">
              <a:rPr lang="tr-TR" smtClean="0"/>
              <a:t>1.06.2025</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552821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6019"/>
            <a:ext cx="6896776" cy="7056067"/>
          </a:xfrm>
        </p:spPr>
        <p:txBody>
          <a:bodyPr anchor="b"/>
          <a:lstStyle>
            <a:lvl1pPr>
              <a:defRPr sz="7483"/>
            </a:lvl1pPr>
          </a:lstStyle>
          <a:p>
            <a:r>
              <a:rPr lang="tr-TR"/>
              <a:t>Asıl başlık stili için tıklatın</a:t>
            </a:r>
            <a:endParaRPr lang="en-US" dirty="0"/>
          </a:p>
        </p:txBody>
      </p:sp>
      <p:sp>
        <p:nvSpPr>
          <p:cNvPr id="3" name="Content Placeholder 2"/>
          <p:cNvSpPr>
            <a:spLocks noGrp="1"/>
          </p:cNvSpPr>
          <p:nvPr>
            <p:ph idx="1"/>
          </p:nvPr>
        </p:nvSpPr>
        <p:spPr>
          <a:xfrm>
            <a:off x="9090826" y="4354048"/>
            <a:ext cx="10825460" cy="21490205"/>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472909" y="9072087"/>
            <a:ext cx="6896776" cy="16807162"/>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tr-TR"/>
              <a:t>Asıl metin stillerini düzenlemek için tıklatın</a:t>
            </a:r>
          </a:p>
        </p:txBody>
      </p:sp>
      <p:sp>
        <p:nvSpPr>
          <p:cNvPr id="5" name="Date Placeholder 4"/>
          <p:cNvSpPr>
            <a:spLocks noGrp="1"/>
          </p:cNvSpPr>
          <p:nvPr>
            <p:ph type="dt" sz="half" idx="10"/>
          </p:nvPr>
        </p:nvSpPr>
        <p:spPr/>
        <p:txBody>
          <a:bodyPr/>
          <a:lstStyle/>
          <a:p>
            <a:fld id="{9ADE7B59-3C72-4FE6-A986-5C935952231C}" type="datetimeFigureOut">
              <a:rPr lang="tr-TR" smtClean="0"/>
              <a:t>1.06.2025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2915421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6019"/>
            <a:ext cx="6896776" cy="7056067"/>
          </a:xfrm>
        </p:spPr>
        <p:txBody>
          <a:bodyPr anchor="b"/>
          <a:lstStyle>
            <a:lvl1pPr>
              <a:defRPr sz="7483"/>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9090826" y="4354048"/>
            <a:ext cx="10825460" cy="21490205"/>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tr-TR"/>
              <a:t>Resim eklemek için simgeyi tıklatın</a:t>
            </a:r>
            <a:endParaRPr lang="en-US" dirty="0"/>
          </a:p>
        </p:txBody>
      </p:sp>
      <p:sp>
        <p:nvSpPr>
          <p:cNvPr id="4" name="Text Placeholder 3"/>
          <p:cNvSpPr>
            <a:spLocks noGrp="1"/>
          </p:cNvSpPr>
          <p:nvPr>
            <p:ph type="body" sz="half" idx="2"/>
          </p:nvPr>
        </p:nvSpPr>
        <p:spPr>
          <a:xfrm>
            <a:off x="1472909" y="9072087"/>
            <a:ext cx="6896776" cy="16807162"/>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tr-TR"/>
              <a:t>Asıl metin stillerini düzenlemek için tıklatın</a:t>
            </a:r>
          </a:p>
        </p:txBody>
      </p:sp>
      <p:sp>
        <p:nvSpPr>
          <p:cNvPr id="5" name="Date Placeholder 4"/>
          <p:cNvSpPr>
            <a:spLocks noGrp="1"/>
          </p:cNvSpPr>
          <p:nvPr>
            <p:ph type="dt" sz="half" idx="10"/>
          </p:nvPr>
        </p:nvSpPr>
        <p:spPr/>
        <p:txBody>
          <a:bodyPr/>
          <a:lstStyle/>
          <a:p>
            <a:fld id="{9ADE7B59-3C72-4FE6-A986-5C935952231C}" type="datetimeFigureOut">
              <a:rPr lang="tr-TR" smtClean="0"/>
              <a:t>1.06.2025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3435033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ADE7B59-3C72-4FE6-A986-5C935952231C}" type="datetimeFigureOut">
              <a:rPr lang="tr-TR" smtClean="0"/>
              <a:t>1.06.2025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1975758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0015"/>
            <a:ext cx="4610844" cy="25627246"/>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1470125" y="1610015"/>
            <a:ext cx="13565237" cy="25627246"/>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ADE7B59-3C72-4FE6-A986-5C935952231C}" type="datetimeFigureOut">
              <a:rPr lang="tr-TR" smtClean="0"/>
              <a:t>1.06.2025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6A5F54E-4352-45CC-9610-F3F8FED24649}" type="slidenum">
              <a:rPr lang="tr-TR" smtClean="0"/>
              <a:t>‹#›</a:t>
            </a:fld>
            <a:endParaRPr lang="tr-TR"/>
          </a:p>
        </p:txBody>
      </p:sp>
    </p:spTree>
    <p:extLst>
      <p:ext uri="{BB962C8B-B14F-4D97-AF65-F5344CB8AC3E}">
        <p14:creationId xmlns:p14="http://schemas.microsoft.com/office/powerpoint/2010/main" val="3072332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0022"/>
            <a:ext cx="18443377" cy="5845058"/>
          </a:xfrm>
          <a:prstGeom prst="rect">
            <a:avLst/>
          </a:prstGeom>
        </p:spPr>
        <p:txBody>
          <a:bodyPr vert="horz" lIns="91440" tIns="45720" rIns="91440" bIns="45720" rtlCol="0" anchor="ctr">
            <a:normAutofit/>
          </a:bodyPr>
          <a:lstStyle/>
          <a:p>
            <a:r>
              <a:rPr lang="tr-TR"/>
              <a:t>Asıl başlık stili için tıklatın</a:t>
            </a:r>
            <a:endParaRPr lang="en-US" dirty="0"/>
          </a:p>
        </p:txBody>
      </p:sp>
      <p:sp>
        <p:nvSpPr>
          <p:cNvPr id="3" name="Text Placeholder 2"/>
          <p:cNvSpPr>
            <a:spLocks noGrp="1"/>
          </p:cNvSpPr>
          <p:nvPr>
            <p:ph type="body" idx="1"/>
          </p:nvPr>
        </p:nvSpPr>
        <p:spPr>
          <a:xfrm>
            <a:off x="1470124" y="8050077"/>
            <a:ext cx="18443377" cy="19187185"/>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470124" y="28028274"/>
            <a:ext cx="4811316" cy="1610015"/>
          </a:xfrm>
          <a:prstGeom prst="rect">
            <a:avLst/>
          </a:prstGeom>
        </p:spPr>
        <p:txBody>
          <a:bodyPr vert="horz" lIns="91440" tIns="45720" rIns="91440" bIns="45720" rtlCol="0" anchor="ctr"/>
          <a:lstStyle>
            <a:lvl1pPr algn="l">
              <a:defRPr sz="2806">
                <a:solidFill>
                  <a:schemeClr val="tx1">
                    <a:tint val="75000"/>
                  </a:schemeClr>
                </a:solidFill>
              </a:defRPr>
            </a:lvl1pPr>
          </a:lstStyle>
          <a:p>
            <a:fld id="{9ADE7B59-3C72-4FE6-A986-5C935952231C}" type="datetimeFigureOut">
              <a:rPr lang="tr-TR" smtClean="0"/>
              <a:t>1.06.2025</a:t>
            </a:fld>
            <a:endParaRPr lang="tr-TR"/>
          </a:p>
        </p:txBody>
      </p:sp>
      <p:sp>
        <p:nvSpPr>
          <p:cNvPr id="5" name="Footer Placeholder 4"/>
          <p:cNvSpPr>
            <a:spLocks noGrp="1"/>
          </p:cNvSpPr>
          <p:nvPr>
            <p:ph type="ftr" sz="quarter" idx="3"/>
          </p:nvPr>
        </p:nvSpPr>
        <p:spPr>
          <a:xfrm>
            <a:off x="7083326" y="28028274"/>
            <a:ext cx="7216973" cy="1610015"/>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5102185" y="28028274"/>
            <a:ext cx="4811316" cy="1610015"/>
          </a:xfrm>
          <a:prstGeom prst="rect">
            <a:avLst/>
          </a:prstGeom>
        </p:spPr>
        <p:txBody>
          <a:bodyPr vert="horz" lIns="91440" tIns="45720" rIns="91440" bIns="45720" rtlCol="0" anchor="ctr"/>
          <a:lstStyle>
            <a:lvl1pPr algn="r">
              <a:defRPr sz="2806">
                <a:solidFill>
                  <a:schemeClr val="tx1">
                    <a:tint val="75000"/>
                  </a:schemeClr>
                </a:solidFill>
              </a:defRPr>
            </a:lvl1pPr>
          </a:lstStyle>
          <a:p>
            <a:fld id="{96A5F54E-4352-45CC-9610-F3F8FED24649}" type="slidenum">
              <a:rPr lang="tr-TR" smtClean="0"/>
              <a:t>‹#›</a:t>
            </a:fld>
            <a:endParaRPr lang="tr-TR"/>
          </a:p>
        </p:txBody>
      </p:sp>
    </p:spTree>
    <p:extLst>
      <p:ext uri="{BB962C8B-B14F-4D97-AF65-F5344CB8AC3E}">
        <p14:creationId xmlns:p14="http://schemas.microsoft.com/office/powerpoint/2010/main" val="307593636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1" name="Yuvarlatılmış Dikdörtgen 10"/>
          <p:cNvSpPr/>
          <p:nvPr/>
        </p:nvSpPr>
        <p:spPr>
          <a:xfrm>
            <a:off x="-1" y="69793"/>
            <a:ext cx="21383626" cy="538003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5" name="Resim 4"/>
          <p:cNvPicPr>
            <a:picLocks noChangeAspect="1"/>
          </p:cNvPicPr>
          <p:nvPr/>
        </p:nvPicPr>
        <p:blipFill>
          <a:blip r:embed="rId3">
            <a:extLst>
              <a:ext uri="{28A0092B-C50C-407E-A947-70E740481C1C}">
                <a14:useLocalDpi xmlns:a14="http://schemas.microsoft.com/office/drawing/2010/main" val="0"/>
              </a:ext>
            </a:extLst>
          </a:blip>
          <a:srcRect/>
          <a:stretch/>
        </p:blipFill>
        <p:spPr>
          <a:xfrm>
            <a:off x="17171575" y="821280"/>
            <a:ext cx="3877056" cy="3877056"/>
          </a:xfrm>
          <a:prstGeom prst="rect">
            <a:avLst/>
          </a:prstGeom>
        </p:spPr>
      </p:pic>
      <p:sp>
        <p:nvSpPr>
          <p:cNvPr id="12" name="Metin kutusu 11"/>
          <p:cNvSpPr txBox="1"/>
          <p:nvPr/>
        </p:nvSpPr>
        <p:spPr>
          <a:xfrm>
            <a:off x="4545591" y="714572"/>
            <a:ext cx="12292441" cy="4154984"/>
          </a:xfrm>
          <a:prstGeom prst="rect">
            <a:avLst/>
          </a:prstGeom>
          <a:noFill/>
        </p:spPr>
        <p:txBody>
          <a:bodyPr wrap="square" rtlCol="0" anchor="ctr">
            <a:spAutoFit/>
          </a:bodyPr>
          <a:lstStyle/>
          <a:p>
            <a:pPr algn="ctr"/>
            <a:r>
              <a:rPr lang="tr-TR" sz="4400" b="1" dirty="0">
                <a:solidFill>
                  <a:srgbClr val="FF0000"/>
                </a:solidFill>
              </a:rPr>
              <a:t>Sosyal Medya ve Cep Telefonu Bağımlılığı</a:t>
            </a:r>
            <a:br>
              <a:rPr lang="tr-TR" sz="4400" b="1" dirty="0">
                <a:solidFill>
                  <a:srgbClr val="FF0000"/>
                </a:solidFill>
              </a:rPr>
            </a:br>
            <a:r>
              <a:rPr lang="tr-TR" sz="4400" b="1" dirty="0">
                <a:solidFill>
                  <a:srgbClr val="FF0000"/>
                </a:solidFill>
              </a:rPr>
              <a:t>Eylem LALEK, Çiğdem GÖÇER,</a:t>
            </a:r>
          </a:p>
          <a:p>
            <a:pPr algn="ctr"/>
            <a:r>
              <a:rPr lang="tr-TR" sz="4400" b="1" dirty="0">
                <a:solidFill>
                  <a:srgbClr val="FF0000"/>
                </a:solidFill>
              </a:rPr>
              <a:t>Hayat AYDIN, İclal Meriç YİĞİT</a:t>
            </a:r>
            <a:br>
              <a:rPr lang="tr-TR" sz="4400" b="1" dirty="0">
                <a:solidFill>
                  <a:srgbClr val="FF0000"/>
                </a:solidFill>
              </a:rPr>
            </a:br>
            <a:r>
              <a:rPr lang="tr-TR" sz="4400" b="1" dirty="0"/>
              <a:t>Danışman: Dr. Öğr. Çetin KALBURAN</a:t>
            </a:r>
            <a:r>
              <a:rPr lang="tr-TR" sz="4400" dirty="0"/>
              <a:t> </a:t>
            </a:r>
            <a:br>
              <a:rPr lang="tr-TR" sz="4400" dirty="0"/>
            </a:br>
            <a:r>
              <a:rPr lang="tr-TR" sz="4400" dirty="0"/>
              <a:t>PAÜ Yönetim Bilişim Sistemleri Bölümü Lisans Tezi</a:t>
            </a:r>
            <a:br>
              <a:rPr lang="tr-TR" sz="4400" dirty="0"/>
            </a:br>
            <a:r>
              <a:rPr lang="tr-TR" sz="4400" dirty="0"/>
              <a:t>Haziran 2025</a:t>
            </a:r>
          </a:p>
        </p:txBody>
      </p:sp>
      <p:sp>
        <p:nvSpPr>
          <p:cNvPr id="2" name="Yuvarlatılmış Dikdörtgen 1"/>
          <p:cNvSpPr/>
          <p:nvPr/>
        </p:nvSpPr>
        <p:spPr>
          <a:xfrm>
            <a:off x="0" y="5539584"/>
            <a:ext cx="10607040" cy="2470070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 name="Resim 2"/>
          <p:cNvPicPr>
            <a:picLocks noChangeAspect="1"/>
          </p:cNvPicPr>
          <p:nvPr/>
        </p:nvPicPr>
        <p:blipFill>
          <a:blip r:embed="rId4"/>
          <a:stretch>
            <a:fillRect/>
          </a:stretch>
        </p:blipFill>
        <p:spPr>
          <a:xfrm>
            <a:off x="10927080" y="5539584"/>
            <a:ext cx="10456545" cy="24715326"/>
          </a:xfrm>
          <a:prstGeom prst="rect">
            <a:avLst/>
          </a:prstGeom>
        </p:spPr>
      </p:pic>
      <p:sp>
        <p:nvSpPr>
          <p:cNvPr id="6" name="Metin kutusu 5"/>
          <p:cNvSpPr txBox="1"/>
          <p:nvPr/>
        </p:nvSpPr>
        <p:spPr>
          <a:xfrm>
            <a:off x="334994" y="5635525"/>
            <a:ext cx="9738360" cy="25523462"/>
          </a:xfrm>
          <a:prstGeom prst="rect">
            <a:avLst/>
          </a:prstGeom>
          <a:noFill/>
        </p:spPr>
        <p:txBody>
          <a:bodyPr wrap="square" rtlCol="0">
            <a:spAutoFit/>
          </a:bodyPr>
          <a:lstStyle/>
          <a:p>
            <a:pPr algn="ctr"/>
            <a:r>
              <a:rPr lang="tr-TR" b="1" dirty="0"/>
              <a:t>AMAÇ VE YÖNTEM</a:t>
            </a:r>
          </a:p>
          <a:p>
            <a:r>
              <a:rPr lang="tr-TR" sz="3000" dirty="0"/>
              <a:t>Bu araştırmada sosyal medya kullanım amaçları ve cep telefonu bağımlılığının demografik değişkenlere göre incelenmesi amaçlanmıştır. Araştırma kapsamında veriler anket yöntemi ile toplanmış olup anketler katılımcılar tarafından çevrimiçi ortamda doldurulmuştur. Anket demografik soruların yanı sıra, Çömlekçi ve Başol (2019) tarafından kullanılan ve Solmaz vd. (2013) tarafından geliştirilen “Sosyal Medya Kullanım Amaçları Ölçeği” ile Karadağ vd. (2015) tarafından geliştirilen “Mobil Telefon Kullanım Bağımlılığı Ölçeği” </a:t>
            </a:r>
            <a:r>
              <a:rPr lang="tr-TR" sz="3000" dirty="0" err="1"/>
              <a:t>ni</a:t>
            </a:r>
            <a:r>
              <a:rPr lang="tr-TR" sz="3000" dirty="0"/>
              <a:t> içermektedir.</a:t>
            </a:r>
          </a:p>
          <a:p>
            <a:endParaRPr lang="tr-TR" sz="300" dirty="0"/>
          </a:p>
          <a:p>
            <a:pPr algn="ctr"/>
            <a:r>
              <a:rPr lang="tr-TR" b="1" dirty="0"/>
              <a:t>BULGULAR</a:t>
            </a:r>
            <a:endParaRPr lang="tr-TR" sz="2000" b="1" i="1" dirty="0">
              <a:effectLst/>
              <a:ea typeface="Times New Roman" panose="02020603050405020304" pitchFamily="18" charset="0"/>
            </a:endParaRPr>
          </a:p>
          <a:p>
            <a:r>
              <a:rPr lang="tr-TR" sz="2000" b="1" i="1" dirty="0">
                <a:effectLst/>
                <a:ea typeface="Times New Roman" panose="02020603050405020304" pitchFamily="18" charset="0"/>
              </a:rPr>
              <a:t>Tablo 1: Cevaplayıcılara İlişkin Betimleyici İstatistikler</a:t>
            </a:r>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sz="1050" dirty="0"/>
          </a:p>
          <a:p>
            <a:endParaRPr lang="tr-TR" sz="1200" dirty="0">
              <a:effectLst/>
              <a:ea typeface="Times New Roman" panose="02020603050405020304" pitchFamily="18" charset="0"/>
              <a:cs typeface="Times New Roman" panose="02020603050405020304" pitchFamily="18" charset="0"/>
            </a:endParaRPr>
          </a:p>
          <a:p>
            <a:r>
              <a:rPr lang="tr-TR" sz="2800" dirty="0">
                <a:effectLst/>
                <a:ea typeface="Times New Roman" panose="02020603050405020304" pitchFamily="18" charset="0"/>
                <a:cs typeface="Times New Roman" panose="02020603050405020304" pitchFamily="18" charset="0"/>
              </a:rPr>
              <a:t>Tablo 1, araştırmaya katılan bireylerin demografik özelliklerine dair betimleyici istatistikleri sunmaktadır. Veriler; yaş düzeyi, cinsiyet, medeni durum, çalışma durumu ve eğitim durumu gibi değişkenlere göre dağılımı göstermektedir.</a:t>
            </a:r>
          </a:p>
          <a:p>
            <a:endParaRPr lang="tr-TR" sz="1400" dirty="0"/>
          </a:p>
          <a:p>
            <a:r>
              <a:rPr lang="tr-TR" sz="2000" b="1" i="1" dirty="0"/>
              <a:t>Tablo 4 Çalışma Durumuna Göre Cep Telefonu Bağımlılığı Ortalamaları (T Testi)</a:t>
            </a:r>
          </a:p>
          <a:p>
            <a:endParaRPr lang="tr-TR" sz="2000" b="1" i="1" dirty="0">
              <a:effectLst/>
              <a:ea typeface="Times New Roman" panose="02020603050405020304" pitchFamily="18" charset="0"/>
              <a:cs typeface="Times New Roman" panose="02020603050405020304" pitchFamily="18" charset="0"/>
            </a:endParaRPr>
          </a:p>
          <a:p>
            <a:endParaRPr lang="tr-TR" sz="2000" b="1" i="1" dirty="0">
              <a:ea typeface="Times New Roman" panose="02020603050405020304" pitchFamily="18" charset="0"/>
              <a:cs typeface="Times New Roman" panose="02020603050405020304" pitchFamily="18" charset="0"/>
            </a:endParaRPr>
          </a:p>
          <a:p>
            <a:endParaRPr lang="tr-TR" sz="2000" b="1" i="1" dirty="0">
              <a:effectLst/>
              <a:ea typeface="Times New Roman" panose="02020603050405020304" pitchFamily="18" charset="0"/>
              <a:cs typeface="Times New Roman" panose="02020603050405020304" pitchFamily="18" charset="0"/>
            </a:endParaRPr>
          </a:p>
          <a:p>
            <a:endParaRPr lang="tr-TR" sz="2000" b="1" i="1" dirty="0">
              <a:ea typeface="Times New Roman" panose="02020603050405020304" pitchFamily="18" charset="0"/>
              <a:cs typeface="Times New Roman" panose="02020603050405020304" pitchFamily="18" charset="0"/>
            </a:endParaRPr>
          </a:p>
          <a:p>
            <a:endParaRPr lang="tr-TR" sz="2000" b="1" i="1" dirty="0">
              <a:effectLst/>
              <a:ea typeface="Times New Roman" panose="02020603050405020304" pitchFamily="18" charset="0"/>
              <a:cs typeface="Times New Roman" panose="02020603050405020304" pitchFamily="18" charset="0"/>
            </a:endParaRPr>
          </a:p>
          <a:p>
            <a:endParaRPr lang="tr-TR" sz="2000" b="1" i="1" dirty="0">
              <a:cs typeface="Times New Roman" panose="02020603050405020304" pitchFamily="18" charset="0"/>
            </a:endParaRPr>
          </a:p>
          <a:p>
            <a:endParaRPr lang="tr-TR" sz="300" dirty="0">
              <a:cs typeface="Times New Roman" panose="02020603050405020304" pitchFamily="18" charset="0"/>
            </a:endParaRPr>
          </a:p>
          <a:p>
            <a:r>
              <a:rPr lang="tr-TR" sz="2800" dirty="0">
                <a:cs typeface="Times New Roman" panose="02020603050405020304" pitchFamily="18" charset="0"/>
              </a:rPr>
              <a:t>Tablo 4’de yer alan öğrencilerin bağımlılık ortalaması 3,17; çalışanların ise 2,72’dir ve aradaki fark anlamlıdır (p &lt; 0,05). Bu sonuç, öğrencilerin cep telefonu bağımlılığının çalışanlara göre daha yüksek olduğunu göstermektedir.</a:t>
            </a:r>
          </a:p>
          <a:p>
            <a:endParaRPr lang="tr-TR" sz="1400" dirty="0">
              <a:effectLst/>
              <a:ea typeface="Times New Roman" panose="02020603050405020304" pitchFamily="18" charset="0"/>
              <a:cs typeface="Times New Roman" panose="02020603050405020304" pitchFamily="18" charset="0"/>
            </a:endParaRPr>
          </a:p>
          <a:p>
            <a:endParaRPr lang="tr-TR" sz="1400" dirty="0">
              <a:effectLst/>
              <a:ea typeface="Times New Roman" panose="02020603050405020304" pitchFamily="18" charset="0"/>
              <a:cs typeface="Times New Roman" panose="02020603050405020304" pitchFamily="18" charset="0"/>
            </a:endParaRPr>
          </a:p>
          <a:p>
            <a:r>
              <a:rPr lang="tr-TR" sz="2000" b="1" dirty="0">
                <a:effectLst/>
                <a:ea typeface="Times New Roman" panose="02020603050405020304" pitchFamily="18" charset="0"/>
                <a:cs typeface="Times New Roman" panose="02020603050405020304" pitchFamily="18" charset="0"/>
              </a:rPr>
              <a:t>Tablo 7 Eğitim Düzeylerine Göre Cep Telefonu Bağımlılığı Ortalamaları </a:t>
            </a:r>
            <a:r>
              <a:rPr lang="tr-TR" sz="2000" b="1" dirty="0">
                <a:ea typeface="Times New Roman" panose="02020603050405020304" pitchFamily="18" charset="0"/>
                <a:cs typeface="Times New Roman" panose="02020603050405020304" pitchFamily="18" charset="0"/>
              </a:rPr>
              <a:t>ve Farklılık Testi Bulguları (</a:t>
            </a:r>
            <a:r>
              <a:rPr lang="tr-TR" sz="2000" b="1" dirty="0" err="1">
                <a:ea typeface="Times New Roman" panose="02020603050405020304" pitchFamily="18" charset="0"/>
                <a:cs typeface="Times New Roman" panose="02020603050405020304" pitchFamily="18" charset="0"/>
              </a:rPr>
              <a:t>Anova</a:t>
            </a:r>
            <a:r>
              <a:rPr lang="tr-TR" sz="2000" b="1" dirty="0">
                <a:ea typeface="Times New Roman" panose="02020603050405020304" pitchFamily="18" charset="0"/>
                <a:cs typeface="Times New Roman" panose="02020603050405020304" pitchFamily="18" charset="0"/>
              </a:rPr>
              <a:t>)</a:t>
            </a:r>
            <a:endParaRPr lang="tr-TR" sz="2000" b="1" dirty="0">
              <a:effectLst/>
              <a:ea typeface="Times New Roman" panose="02020603050405020304" pitchFamily="18" charset="0"/>
              <a:cs typeface="Times New Roman" panose="02020603050405020304" pitchFamily="18" charset="0"/>
            </a:endParaRPr>
          </a:p>
          <a:p>
            <a:endParaRPr lang="tr-TR" sz="3000" dirty="0">
              <a:effectLst/>
              <a:ea typeface="Times New Roman" panose="02020603050405020304" pitchFamily="18" charset="0"/>
              <a:cs typeface="Times New Roman" panose="02020603050405020304" pitchFamily="18" charset="0"/>
            </a:endParaRPr>
          </a:p>
          <a:p>
            <a:endParaRPr lang="tr-TR" sz="1200" dirty="0">
              <a:solidFill>
                <a:schemeClr val="dk1"/>
              </a:solidFill>
            </a:endParaRPr>
          </a:p>
          <a:p>
            <a:endParaRPr lang="tr-TR" sz="3200" dirty="0"/>
          </a:p>
          <a:p>
            <a:endParaRPr lang="tr-TR" sz="2800" dirty="0">
              <a:cs typeface="Times New Roman" panose="02020603050405020304" pitchFamily="18" charset="0"/>
            </a:endParaRPr>
          </a:p>
          <a:p>
            <a:r>
              <a:rPr lang="tr-TR" sz="2800" dirty="0">
                <a:cs typeface="Times New Roman" panose="02020603050405020304" pitchFamily="18" charset="0"/>
              </a:rPr>
              <a:t>Tablo 7’ de eğitim düzeylerine göre cep telefonu bağımlılığı düzeyleri arasında anlamlı farklılıklar olduğu belirlenmiştir (p &lt; 0,05). Bu sonuç, bireylerin eğitim seviyesi arttıkça cep telefonunu daha sık ve çeşitli amaçlarla kullanabildiklerini, dolayısıyla bağımlılık düzeylerinin de artabileceğini göstermektedir.</a:t>
            </a:r>
          </a:p>
          <a:p>
            <a:endParaRPr lang="tr-TR" sz="2800" dirty="0">
              <a:cs typeface="Times New Roman" panose="02020603050405020304" pitchFamily="18" charset="0"/>
            </a:endParaRPr>
          </a:p>
          <a:p>
            <a:endParaRPr lang="tr-TR" sz="2800" dirty="0">
              <a:cs typeface="Times New Roman" panose="02020603050405020304" pitchFamily="18" charset="0"/>
            </a:endParaRPr>
          </a:p>
        </p:txBody>
      </p:sp>
      <p:sp>
        <p:nvSpPr>
          <p:cNvPr id="10" name="Metin kutusu 9"/>
          <p:cNvSpPr txBox="1"/>
          <p:nvPr/>
        </p:nvSpPr>
        <p:spPr>
          <a:xfrm>
            <a:off x="11262166" y="6201311"/>
            <a:ext cx="9908669" cy="25696073"/>
          </a:xfrm>
          <a:prstGeom prst="rect">
            <a:avLst/>
          </a:prstGeom>
          <a:noFill/>
        </p:spPr>
        <p:txBody>
          <a:bodyPr wrap="square" rtlCol="0">
            <a:spAutoFit/>
          </a:bodyPr>
          <a:lstStyle/>
          <a:p>
            <a:r>
              <a:rPr lang="tr-TR" sz="2000" b="1" i="1" dirty="0">
                <a:effectLst/>
                <a:ea typeface="Times New Roman" panose="02020603050405020304" pitchFamily="18" charset="0"/>
                <a:cs typeface="Times New Roman" panose="02020603050405020304" pitchFamily="18" charset="0"/>
              </a:rPr>
              <a:t> </a:t>
            </a:r>
          </a:p>
          <a:p>
            <a:r>
              <a:rPr lang="tr-TR" sz="2000" b="1" i="1" dirty="0"/>
              <a:t>Tablo 10: Kuşaklara Göre Sosyal Medya Kullanım Amaçları (</a:t>
            </a:r>
            <a:r>
              <a:rPr lang="tr-TR" sz="2000" b="1" i="1" dirty="0" err="1"/>
              <a:t>Anova</a:t>
            </a:r>
            <a:r>
              <a:rPr lang="tr-TR" sz="2000" b="1" i="1" dirty="0"/>
              <a:t>)</a:t>
            </a:r>
          </a:p>
          <a:p>
            <a:endParaRPr lang="tr-TR" sz="2000" dirty="0"/>
          </a:p>
          <a:p>
            <a:endParaRPr lang="tr-TR" dirty="0"/>
          </a:p>
          <a:p>
            <a:endParaRPr lang="tr-TR" dirty="0"/>
          </a:p>
          <a:p>
            <a:endParaRPr lang="tr-TR" sz="2800" dirty="0"/>
          </a:p>
          <a:p>
            <a:endParaRPr lang="tr-TR" sz="2800" dirty="0"/>
          </a:p>
          <a:p>
            <a:endParaRPr lang="tr-TR" dirty="0"/>
          </a:p>
          <a:p>
            <a:endParaRPr lang="tr-TR" dirty="0"/>
          </a:p>
          <a:p>
            <a:endParaRPr lang="tr-TR" sz="3200" dirty="0"/>
          </a:p>
          <a:p>
            <a:endParaRPr lang="tr-TR" sz="3200" dirty="0"/>
          </a:p>
          <a:p>
            <a:endParaRPr lang="tr-TR" sz="3200" dirty="0"/>
          </a:p>
          <a:p>
            <a:endParaRPr lang="tr-TR" sz="1400" dirty="0"/>
          </a:p>
          <a:p>
            <a:r>
              <a:rPr lang="tr-TR" sz="2800" dirty="0">
                <a:cs typeface="Times New Roman" panose="02020603050405020304" pitchFamily="18" charset="0"/>
              </a:rPr>
              <a:t>Kuşaklara Göre </a:t>
            </a:r>
            <a:r>
              <a:rPr lang="tr-TR" sz="2800" dirty="0" err="1">
                <a:cs typeface="Times New Roman" panose="02020603050405020304" pitchFamily="18" charset="0"/>
              </a:rPr>
              <a:t>Anova</a:t>
            </a:r>
            <a:r>
              <a:rPr lang="tr-TR" sz="2800" dirty="0">
                <a:cs typeface="Times New Roman" panose="02020603050405020304" pitchFamily="18" charset="0"/>
              </a:rPr>
              <a:t> Testi Sonuçları; Z kuşağı, özellikle iletişim, boş zaman değerlendirme, mesajlaşma, müzik dinleme, gündemi takip etme gibi alanlarda daha yüksek ortalamalara sahiptir. Bu durum, Z kuşağının dijital araçları daha yoğun ve çeşitli amaçlarla kullandığını göstermektedir. Ancak eğlence, kişisel sunum ve bilgi paylaşımı ile bilgiye erişim alanlarında kuşaklar arasında anlamlı fark bulunmamıştır (p&gt;0.05). Bu da bazı temel kullanım alanlarında kuşaklar arası benzerlik olduğunu göstermektedir.</a:t>
            </a:r>
          </a:p>
          <a:p>
            <a:endParaRPr lang="tr-TR" sz="2800" dirty="0">
              <a:cs typeface="Times New Roman" panose="02020603050405020304" pitchFamily="18" charset="0"/>
            </a:endParaRPr>
          </a:p>
          <a:p>
            <a:endParaRPr lang="tr-TR" sz="2000" dirty="0"/>
          </a:p>
          <a:p>
            <a:pPr algn="ctr"/>
            <a:r>
              <a:rPr lang="tr-TR" b="1" dirty="0"/>
              <a:t>SONUÇLAR</a:t>
            </a:r>
          </a:p>
          <a:p>
            <a:pPr marL="114300" lvl="0" indent="-457200">
              <a:buFont typeface="Arial" panose="020B0604020202020204" pitchFamily="34" charset="0"/>
              <a:buChar char="•"/>
            </a:pPr>
            <a:r>
              <a:rPr lang="tr-TR" sz="2800" dirty="0">
                <a:cs typeface="Times New Roman" panose="02020603050405020304" pitchFamily="18" charset="0"/>
              </a:rPr>
              <a:t>Sosyal medya kullanım amaçları içerisinde gündemi takip etmek ve boş zaman değerlendirmek ilk iki sırada yer almaktadır.</a:t>
            </a:r>
          </a:p>
          <a:p>
            <a:pPr marL="114300" lvl="0" indent="-457200">
              <a:buFont typeface="Arial" panose="020B0604020202020204" pitchFamily="34" charset="0"/>
              <a:buChar char="•"/>
            </a:pPr>
            <a:r>
              <a:rPr lang="tr-TR" sz="2800" dirty="0">
                <a:cs typeface="Times New Roman" panose="02020603050405020304" pitchFamily="18" charset="0"/>
              </a:rPr>
              <a:t>Bekarlar evlilere göre daha fazla cep telefonu bağımlılığı göstermektedir.</a:t>
            </a:r>
          </a:p>
          <a:p>
            <a:pPr marL="114300" lvl="0" indent="-457200">
              <a:buFont typeface="Arial" panose="020B0604020202020204" pitchFamily="34" charset="0"/>
              <a:buChar char="•"/>
            </a:pPr>
            <a:r>
              <a:rPr lang="tr-TR" sz="2800" dirty="0">
                <a:cs typeface="Times New Roman" panose="02020603050405020304" pitchFamily="18" charset="0"/>
              </a:rPr>
              <a:t>En yoğun Instagram kullandığını bildiren katılımcıların cep telefonu bağımlılığı diğer sosyal medya platformu kullanıcılarına göre daha fazladır.</a:t>
            </a:r>
          </a:p>
          <a:p>
            <a:pPr marL="114300" lvl="0" indent="-457200">
              <a:spcAft>
                <a:spcPts val="1000"/>
              </a:spcAft>
              <a:buFont typeface="Arial" panose="020B0604020202020204" pitchFamily="34" charset="0"/>
              <a:buChar char="•"/>
            </a:pPr>
            <a:r>
              <a:rPr lang="tr-TR" sz="2800" dirty="0">
                <a:cs typeface="Times New Roman" panose="02020603050405020304" pitchFamily="18" charset="0"/>
              </a:rPr>
              <a:t>Z kuşağı X ve Y kuşağına göre daha fazla cep telefonu bağımlılığı göstermektedir.</a:t>
            </a:r>
          </a:p>
          <a:p>
            <a:pPr marL="114300" lvl="0" indent="-457200">
              <a:spcAft>
                <a:spcPts val="1000"/>
              </a:spcAft>
              <a:buFont typeface="Arial" panose="020B0604020202020204" pitchFamily="34" charset="0"/>
              <a:buChar char="•"/>
            </a:pPr>
            <a:r>
              <a:rPr lang="tr-TR" sz="2800" dirty="0">
                <a:cs typeface="Times New Roman" panose="02020603050405020304" pitchFamily="18" charset="0"/>
              </a:rPr>
              <a:t>Öğrenciler, çalışanlara kıyasla anlamlı düzeyde daha yüksek cep telefonu bağımlılığına sahiptir.</a:t>
            </a:r>
          </a:p>
          <a:p>
            <a:pPr marL="114300" lvl="0" indent="-457200">
              <a:spcAft>
                <a:spcPts val="1000"/>
              </a:spcAft>
              <a:buFont typeface="Arial" panose="020B0604020202020204" pitchFamily="34" charset="0"/>
              <a:buChar char="•"/>
            </a:pPr>
            <a:r>
              <a:rPr lang="tr-TR" sz="2800" dirty="0">
                <a:cs typeface="Times New Roman" panose="02020603050405020304" pitchFamily="18" charset="0"/>
              </a:rPr>
              <a:t>Instagram kullanıcılarının cep telefonu bağımlılığı, Facebook kullanıcılarına göre anlamlı şekilde daha yüksektir.</a:t>
            </a:r>
          </a:p>
          <a:p>
            <a:pPr marL="114300" lvl="0" indent="-457200">
              <a:spcAft>
                <a:spcPts val="1000"/>
              </a:spcAft>
              <a:buFont typeface="Arial" panose="020B0604020202020204" pitchFamily="34" charset="0"/>
              <a:buChar char="•"/>
            </a:pPr>
            <a:r>
              <a:rPr lang="tr-TR" sz="2800" dirty="0">
                <a:cs typeface="Times New Roman" panose="02020603050405020304" pitchFamily="18" charset="0"/>
              </a:rPr>
              <a:t>Eğitim düzeyi yükseldikçe cep telefonu bağımlılığı da anlamlı şekilde artmaktadır.</a:t>
            </a:r>
          </a:p>
          <a:p>
            <a:pPr marL="114300" lvl="0" indent="-457200">
              <a:spcAft>
                <a:spcPts val="1000"/>
              </a:spcAft>
              <a:buFont typeface="Arial" panose="020B0604020202020204" pitchFamily="34" charset="0"/>
              <a:buChar char="•"/>
            </a:pPr>
            <a:r>
              <a:rPr lang="tr-TR" sz="2800" dirty="0">
                <a:cs typeface="Times New Roman" panose="02020603050405020304" pitchFamily="18" charset="0"/>
              </a:rPr>
              <a:t>Sosyal medya platformu tercihi, cep telefonu bağımlılığı düzeyini anlamlı şekilde etkilemektedir.</a:t>
            </a:r>
          </a:p>
          <a:p>
            <a:pPr marL="114300" lvl="0" indent="-457200">
              <a:spcAft>
                <a:spcPts val="1000"/>
              </a:spcAft>
              <a:buFont typeface="Arial" panose="020B0604020202020204" pitchFamily="34" charset="0"/>
              <a:buChar char="•"/>
            </a:pPr>
            <a:r>
              <a:rPr lang="tr-TR" sz="2800" dirty="0">
                <a:cs typeface="Times New Roman" panose="02020603050405020304" pitchFamily="18" charset="0"/>
              </a:rPr>
              <a:t>Katılımcılar sosyal medyayı daha çok gündemi takip etme, eğlenme ve boş zaman değerlendirmek amacıyla kullanmaktadır.</a:t>
            </a:r>
          </a:p>
          <a:p>
            <a:pPr marL="114300" lvl="0" indent="-457200">
              <a:spcAft>
                <a:spcPts val="1000"/>
              </a:spcAft>
              <a:buFont typeface="Arial" panose="020B0604020202020204" pitchFamily="34" charset="0"/>
              <a:buChar char="•"/>
            </a:pPr>
            <a:r>
              <a:rPr lang="tr-TR" sz="2800" dirty="0">
                <a:cs typeface="Times New Roman" panose="02020603050405020304" pitchFamily="18" charset="0"/>
              </a:rPr>
              <a:t>Z kuşağının sosyal medyayı iletişim, mesajlaşma, müzik dinleme ve boş zaman değerlendirme gibi amaçlarla diğer kuşaklara kıyasla daha fazla kullandığı görülmektedir.</a:t>
            </a:r>
          </a:p>
          <a:p>
            <a:pPr marL="114300" lvl="0" indent="-457200">
              <a:buFont typeface="Arial" panose="020B0604020202020204" pitchFamily="34" charset="0"/>
              <a:buChar char="•"/>
            </a:pPr>
            <a:r>
              <a:rPr lang="tr-TR" sz="2800" dirty="0">
                <a:cs typeface="Times New Roman" panose="02020603050405020304" pitchFamily="18" charset="0"/>
              </a:rPr>
              <a:t>Kadınlar sosyal medyayı özellikle iletişim kurma, mesajlaşma, müzik dinleme ve kişisel sunum gibi sosyal ve ifade odaklı amaçlarla erkeklere kıyasla daha fazla kullanmaktadır.</a:t>
            </a:r>
          </a:p>
          <a:p>
            <a:endParaRPr lang="tr-TR" sz="2000" dirty="0"/>
          </a:p>
          <a:p>
            <a:endParaRPr lang="tr-TR" dirty="0"/>
          </a:p>
          <a:p>
            <a:endParaRPr lang="tr-TR" dirty="0"/>
          </a:p>
        </p:txBody>
      </p:sp>
      <p:pic>
        <p:nvPicPr>
          <p:cNvPr id="13" name="Resim 12">
            <a:extLst>
              <a:ext uri="{FF2B5EF4-FFF2-40B4-BE49-F238E27FC236}">
                <a16:creationId xmlns:a16="http://schemas.microsoft.com/office/drawing/2014/main" id="{A78E6F3C-82F9-D3C2-CE4D-C8A3785A4D1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34994" y="700527"/>
            <a:ext cx="4118562" cy="4118562"/>
          </a:xfrm>
          <a:prstGeom prst="rect">
            <a:avLst/>
          </a:prstGeom>
        </p:spPr>
      </p:pic>
      <p:graphicFrame>
        <p:nvGraphicFramePr>
          <p:cNvPr id="8" name="Tablo 7">
            <a:extLst>
              <a:ext uri="{FF2B5EF4-FFF2-40B4-BE49-F238E27FC236}">
                <a16:creationId xmlns:a16="http://schemas.microsoft.com/office/drawing/2014/main" id="{135DD851-C941-7028-CD12-F65653B3794A}"/>
              </a:ext>
            </a:extLst>
          </p:cNvPr>
          <p:cNvGraphicFramePr>
            <a:graphicFrameLocks noGrp="1"/>
          </p:cNvGraphicFramePr>
          <p:nvPr>
            <p:extLst>
              <p:ext uri="{D42A27DB-BD31-4B8C-83A1-F6EECF244321}">
                <p14:modId xmlns:p14="http://schemas.microsoft.com/office/powerpoint/2010/main" val="399240920"/>
              </p:ext>
            </p:extLst>
          </p:nvPr>
        </p:nvGraphicFramePr>
        <p:xfrm>
          <a:off x="434339" y="12107490"/>
          <a:ext cx="9083039" cy="7015119"/>
        </p:xfrm>
        <a:graphic>
          <a:graphicData uri="http://schemas.openxmlformats.org/drawingml/2006/table">
            <a:tbl>
              <a:tblPr firstRow="1" firstCol="1" bandRow="1">
                <a:tableStyleId>{7DF18680-E054-41AD-8BC1-D1AEF772440D}</a:tableStyleId>
              </a:tblPr>
              <a:tblGrid>
                <a:gridCol w="1580844">
                  <a:extLst>
                    <a:ext uri="{9D8B030D-6E8A-4147-A177-3AD203B41FA5}">
                      <a16:colId xmlns:a16="http://schemas.microsoft.com/office/drawing/2014/main" val="3185053409"/>
                    </a:ext>
                  </a:extLst>
                </a:gridCol>
                <a:gridCol w="2531445">
                  <a:extLst>
                    <a:ext uri="{9D8B030D-6E8A-4147-A177-3AD203B41FA5}">
                      <a16:colId xmlns:a16="http://schemas.microsoft.com/office/drawing/2014/main" val="167591429"/>
                    </a:ext>
                  </a:extLst>
                </a:gridCol>
                <a:gridCol w="2485375">
                  <a:extLst>
                    <a:ext uri="{9D8B030D-6E8A-4147-A177-3AD203B41FA5}">
                      <a16:colId xmlns:a16="http://schemas.microsoft.com/office/drawing/2014/main" val="33947572"/>
                    </a:ext>
                  </a:extLst>
                </a:gridCol>
                <a:gridCol w="2485375">
                  <a:extLst>
                    <a:ext uri="{9D8B030D-6E8A-4147-A177-3AD203B41FA5}">
                      <a16:colId xmlns:a16="http://schemas.microsoft.com/office/drawing/2014/main" val="333884232"/>
                    </a:ext>
                  </a:extLst>
                </a:gridCol>
              </a:tblGrid>
              <a:tr h="278385">
                <a:tc>
                  <a:txBody>
                    <a:bodyPr/>
                    <a:lstStyle/>
                    <a:p>
                      <a:pPr marL="0" marR="0" algn="ctr">
                        <a:lnSpc>
                          <a:spcPct val="150000"/>
                        </a:lnSpc>
                        <a:buNone/>
                      </a:pPr>
                      <a:r>
                        <a:rPr lang="tr-TR" sz="1350" dirty="0">
                          <a:effectLst/>
                        </a:rPr>
                        <a:t>Değişken</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Değişken Değeri</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Sayı (n)</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Yüzde (%)</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42291966"/>
                  </a:ext>
                </a:extLst>
              </a:tr>
              <a:tr h="278385">
                <a:tc rowSpan="3">
                  <a:txBody>
                    <a:bodyPr/>
                    <a:lstStyle/>
                    <a:p>
                      <a:pPr marL="0" marR="0">
                        <a:lnSpc>
                          <a:spcPct val="150000"/>
                        </a:lnSpc>
                        <a:buNone/>
                      </a:pPr>
                      <a:r>
                        <a:rPr lang="tr-TR" sz="1350">
                          <a:effectLst/>
                        </a:rPr>
                        <a:t> </a:t>
                      </a:r>
                    </a:p>
                    <a:p>
                      <a:pPr marL="0" marR="0" algn="ctr">
                        <a:lnSpc>
                          <a:spcPct val="150000"/>
                        </a:lnSpc>
                        <a:buNone/>
                      </a:pPr>
                      <a:r>
                        <a:rPr lang="tr-TR" sz="1350">
                          <a:effectLst/>
                        </a:rPr>
                        <a:t>Yaş Düzeyi</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Z Kuşağı</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198</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45,4</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33136092"/>
                  </a:ext>
                </a:extLst>
              </a:tr>
              <a:tr h="278385">
                <a:tc vMerge="1">
                  <a:txBody>
                    <a:bodyPr/>
                    <a:lstStyle/>
                    <a:p>
                      <a:endParaRPr lang="tr-TR"/>
                    </a:p>
                  </a:txBody>
                  <a:tcPr/>
                </a:tc>
                <a:tc>
                  <a:txBody>
                    <a:bodyPr/>
                    <a:lstStyle/>
                    <a:p>
                      <a:pPr marL="0" marR="0" algn="ctr">
                        <a:lnSpc>
                          <a:spcPct val="150000"/>
                        </a:lnSpc>
                        <a:buNone/>
                      </a:pPr>
                      <a:r>
                        <a:rPr lang="tr-TR" sz="1350">
                          <a:effectLst/>
                        </a:rPr>
                        <a:t>Y Kuşağı</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147</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33,7</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01690598"/>
                  </a:ext>
                </a:extLst>
              </a:tr>
              <a:tr h="278385">
                <a:tc vMerge="1">
                  <a:txBody>
                    <a:bodyPr/>
                    <a:lstStyle/>
                    <a:p>
                      <a:endParaRPr lang="tr-TR"/>
                    </a:p>
                  </a:txBody>
                  <a:tcPr/>
                </a:tc>
                <a:tc>
                  <a:txBody>
                    <a:bodyPr/>
                    <a:lstStyle/>
                    <a:p>
                      <a:pPr marL="0" marR="0" algn="ctr">
                        <a:lnSpc>
                          <a:spcPct val="150000"/>
                        </a:lnSpc>
                        <a:buNone/>
                      </a:pPr>
                      <a:r>
                        <a:rPr lang="tr-TR" sz="1350">
                          <a:effectLst/>
                        </a:rPr>
                        <a:t>X kuşağı</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91</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20,9</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18918181"/>
                  </a:ext>
                </a:extLst>
              </a:tr>
              <a:tr h="278385">
                <a:tc rowSpan="2">
                  <a:txBody>
                    <a:bodyPr/>
                    <a:lstStyle/>
                    <a:p>
                      <a:pPr marL="0" marR="0" algn="ctr">
                        <a:lnSpc>
                          <a:spcPct val="200000"/>
                        </a:lnSpc>
                        <a:buNone/>
                      </a:pPr>
                      <a:r>
                        <a:rPr lang="tr-TR" sz="1350" dirty="0">
                          <a:effectLst/>
                        </a:rPr>
                        <a:t>Cinsiyet</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Kadın</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dirty="0">
                          <a:effectLst/>
                        </a:rPr>
                        <a:t>286</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65,6</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45543558"/>
                  </a:ext>
                </a:extLst>
              </a:tr>
              <a:tr h="278385">
                <a:tc vMerge="1">
                  <a:txBody>
                    <a:bodyPr/>
                    <a:lstStyle/>
                    <a:p>
                      <a:endParaRPr lang="tr-TR"/>
                    </a:p>
                  </a:txBody>
                  <a:tcPr/>
                </a:tc>
                <a:tc>
                  <a:txBody>
                    <a:bodyPr/>
                    <a:lstStyle/>
                    <a:p>
                      <a:pPr marL="0" marR="0" algn="ctr">
                        <a:lnSpc>
                          <a:spcPct val="150000"/>
                        </a:lnSpc>
                        <a:buNone/>
                      </a:pPr>
                      <a:r>
                        <a:rPr lang="tr-TR" sz="1350">
                          <a:effectLst/>
                        </a:rPr>
                        <a:t>Erkek</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150</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34,4</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47535898"/>
                  </a:ext>
                </a:extLst>
              </a:tr>
              <a:tr h="457340">
                <a:tc rowSpan="2">
                  <a:txBody>
                    <a:bodyPr/>
                    <a:lstStyle/>
                    <a:p>
                      <a:pPr marL="0" marR="0">
                        <a:lnSpc>
                          <a:spcPct val="150000"/>
                        </a:lnSpc>
                        <a:buNone/>
                      </a:pPr>
                      <a:r>
                        <a:rPr lang="tr-TR" sz="1350">
                          <a:effectLst/>
                        </a:rPr>
                        <a:t>       </a:t>
                      </a:r>
                    </a:p>
                    <a:p>
                      <a:pPr marL="0" marR="0" algn="ctr">
                        <a:lnSpc>
                          <a:spcPct val="150000"/>
                        </a:lnSpc>
                        <a:buNone/>
                      </a:pPr>
                      <a:r>
                        <a:rPr lang="tr-TR" sz="1350">
                          <a:effectLst/>
                        </a:rPr>
                        <a:t>  Medeni Durum</a:t>
                      </a:r>
                    </a:p>
                    <a:p>
                      <a:pPr marL="0" marR="0">
                        <a:lnSpc>
                          <a:spcPct val="150000"/>
                        </a:lnSpc>
                        <a:buNone/>
                      </a:pPr>
                      <a:r>
                        <a:rPr lang="tr-TR" sz="1350">
                          <a:effectLst/>
                        </a:rPr>
                        <a:t> </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dirty="0">
                          <a:effectLst/>
                        </a:rPr>
                        <a:t>Evli</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197</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45,2</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85597696"/>
                  </a:ext>
                </a:extLst>
              </a:tr>
              <a:tr h="0">
                <a:tc vMerge="1">
                  <a:txBody>
                    <a:bodyPr/>
                    <a:lstStyle/>
                    <a:p>
                      <a:endParaRPr lang="tr-TR"/>
                    </a:p>
                  </a:txBody>
                  <a:tcPr/>
                </a:tc>
                <a:tc>
                  <a:txBody>
                    <a:bodyPr/>
                    <a:lstStyle/>
                    <a:p>
                      <a:pPr marL="0" marR="0" algn="ctr">
                        <a:lnSpc>
                          <a:spcPct val="150000"/>
                        </a:lnSpc>
                        <a:buNone/>
                      </a:pPr>
                      <a:r>
                        <a:rPr lang="tr-TR" sz="1350">
                          <a:effectLst/>
                        </a:rPr>
                        <a:t>Bekar</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239</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dirty="0">
                          <a:effectLst/>
                        </a:rPr>
                        <a:t>54,8</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14280781"/>
                  </a:ext>
                </a:extLst>
              </a:tr>
              <a:tr h="278385">
                <a:tc rowSpan="6">
                  <a:txBody>
                    <a:bodyPr/>
                    <a:lstStyle/>
                    <a:p>
                      <a:pPr marL="0" marR="0" algn="ctr">
                        <a:lnSpc>
                          <a:spcPct val="150000"/>
                        </a:lnSpc>
                        <a:buNone/>
                      </a:pPr>
                      <a:r>
                        <a:rPr lang="tr-TR" sz="1350">
                          <a:effectLst/>
                        </a:rPr>
                        <a:t> </a:t>
                      </a:r>
                    </a:p>
                    <a:p>
                      <a:pPr marL="0" marR="0" algn="ctr">
                        <a:lnSpc>
                          <a:spcPct val="150000"/>
                        </a:lnSpc>
                        <a:buNone/>
                      </a:pPr>
                      <a:r>
                        <a:rPr lang="tr-TR" sz="1350">
                          <a:effectLst/>
                        </a:rPr>
                        <a:t> </a:t>
                      </a:r>
                    </a:p>
                    <a:p>
                      <a:pPr marL="0" marR="0" algn="ctr">
                        <a:lnSpc>
                          <a:spcPct val="150000"/>
                        </a:lnSpc>
                        <a:buNone/>
                      </a:pPr>
                      <a:r>
                        <a:rPr lang="tr-TR" sz="1350">
                          <a:effectLst/>
                        </a:rPr>
                        <a:t>Çalışma Durumu</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dirty="0">
                          <a:effectLst/>
                        </a:rPr>
                        <a:t>Öğrenci</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113</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25,9</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29182413"/>
                  </a:ext>
                </a:extLst>
              </a:tr>
              <a:tr h="278385">
                <a:tc vMerge="1">
                  <a:txBody>
                    <a:bodyPr/>
                    <a:lstStyle/>
                    <a:p>
                      <a:endParaRPr lang="tr-TR"/>
                    </a:p>
                  </a:txBody>
                  <a:tcPr/>
                </a:tc>
                <a:tc>
                  <a:txBody>
                    <a:bodyPr/>
                    <a:lstStyle/>
                    <a:p>
                      <a:pPr marL="0" marR="0" algn="ctr">
                        <a:lnSpc>
                          <a:spcPct val="150000"/>
                        </a:lnSpc>
                        <a:buNone/>
                      </a:pPr>
                      <a:r>
                        <a:rPr lang="tr-TR" sz="1350">
                          <a:effectLst/>
                        </a:rPr>
                        <a:t>Çalışan</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210</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48,2</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5102033"/>
                  </a:ext>
                </a:extLst>
              </a:tr>
              <a:tr h="278385">
                <a:tc vMerge="1">
                  <a:txBody>
                    <a:bodyPr/>
                    <a:lstStyle/>
                    <a:p>
                      <a:endParaRPr lang="tr-TR"/>
                    </a:p>
                  </a:txBody>
                  <a:tcPr/>
                </a:tc>
                <a:tc>
                  <a:txBody>
                    <a:bodyPr/>
                    <a:lstStyle/>
                    <a:p>
                      <a:pPr marL="0" marR="0" algn="ctr">
                        <a:lnSpc>
                          <a:spcPct val="150000"/>
                        </a:lnSpc>
                        <a:buNone/>
                      </a:pPr>
                      <a:r>
                        <a:rPr lang="tr-TR" sz="1350">
                          <a:effectLst/>
                        </a:rPr>
                        <a:t>Öğrenci ve Çalışan</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28</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6,4</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71441279"/>
                  </a:ext>
                </a:extLst>
              </a:tr>
              <a:tr h="278385">
                <a:tc vMerge="1">
                  <a:txBody>
                    <a:bodyPr/>
                    <a:lstStyle/>
                    <a:p>
                      <a:endParaRPr lang="tr-TR"/>
                    </a:p>
                  </a:txBody>
                  <a:tcPr/>
                </a:tc>
                <a:tc>
                  <a:txBody>
                    <a:bodyPr/>
                    <a:lstStyle/>
                    <a:p>
                      <a:pPr marL="0" marR="0" algn="ctr">
                        <a:lnSpc>
                          <a:spcPct val="150000"/>
                        </a:lnSpc>
                        <a:buNone/>
                      </a:pPr>
                      <a:r>
                        <a:rPr lang="tr-TR" sz="1350">
                          <a:effectLst/>
                        </a:rPr>
                        <a:t>Emekli</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18</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4,1</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81661893"/>
                  </a:ext>
                </a:extLst>
              </a:tr>
              <a:tr h="278385">
                <a:tc vMerge="1">
                  <a:txBody>
                    <a:bodyPr/>
                    <a:lstStyle/>
                    <a:p>
                      <a:endParaRPr lang="tr-TR"/>
                    </a:p>
                  </a:txBody>
                  <a:tcPr/>
                </a:tc>
                <a:tc>
                  <a:txBody>
                    <a:bodyPr/>
                    <a:lstStyle/>
                    <a:p>
                      <a:pPr marL="0" marR="0" algn="ctr">
                        <a:lnSpc>
                          <a:spcPct val="150000"/>
                        </a:lnSpc>
                        <a:buNone/>
                      </a:pPr>
                      <a:r>
                        <a:rPr lang="tr-TR" sz="1350" dirty="0">
                          <a:effectLst/>
                        </a:rPr>
                        <a:t>Ev Hanımı</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47</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10,8</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95143976"/>
                  </a:ext>
                </a:extLst>
              </a:tr>
              <a:tr h="278385">
                <a:tc vMerge="1">
                  <a:txBody>
                    <a:bodyPr/>
                    <a:lstStyle/>
                    <a:p>
                      <a:endParaRPr lang="tr-TR"/>
                    </a:p>
                  </a:txBody>
                  <a:tcPr/>
                </a:tc>
                <a:tc>
                  <a:txBody>
                    <a:bodyPr/>
                    <a:lstStyle/>
                    <a:p>
                      <a:pPr marL="0" marR="0" algn="ctr">
                        <a:lnSpc>
                          <a:spcPct val="150000"/>
                        </a:lnSpc>
                        <a:buNone/>
                      </a:pPr>
                      <a:r>
                        <a:rPr lang="tr-TR" sz="1350">
                          <a:effectLst/>
                        </a:rPr>
                        <a:t>Çalışmıyor</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20</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4,6</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80714362"/>
                  </a:ext>
                </a:extLst>
              </a:tr>
              <a:tr h="278385">
                <a:tc rowSpan="6">
                  <a:txBody>
                    <a:bodyPr/>
                    <a:lstStyle/>
                    <a:p>
                      <a:pPr marL="0" marR="0" algn="ctr">
                        <a:lnSpc>
                          <a:spcPct val="150000"/>
                        </a:lnSpc>
                        <a:buNone/>
                      </a:pPr>
                      <a:r>
                        <a:rPr lang="tr-TR" sz="1350">
                          <a:effectLst/>
                        </a:rPr>
                        <a:t> </a:t>
                      </a:r>
                    </a:p>
                    <a:p>
                      <a:pPr marL="0" marR="0" algn="ctr">
                        <a:lnSpc>
                          <a:spcPct val="150000"/>
                        </a:lnSpc>
                        <a:buNone/>
                      </a:pPr>
                      <a:r>
                        <a:rPr lang="tr-TR" sz="1350">
                          <a:effectLst/>
                        </a:rPr>
                        <a:t> </a:t>
                      </a:r>
                    </a:p>
                    <a:p>
                      <a:pPr marL="0" marR="0" algn="ctr">
                        <a:lnSpc>
                          <a:spcPct val="150000"/>
                        </a:lnSpc>
                        <a:buNone/>
                      </a:pPr>
                      <a:r>
                        <a:rPr lang="tr-TR" sz="1350">
                          <a:effectLst/>
                        </a:rPr>
                        <a:t>Eğitim Durumu</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İlkokul</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56</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12,8</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05678353"/>
                  </a:ext>
                </a:extLst>
              </a:tr>
              <a:tr h="278385">
                <a:tc vMerge="1">
                  <a:txBody>
                    <a:bodyPr/>
                    <a:lstStyle/>
                    <a:p>
                      <a:endParaRPr lang="tr-TR"/>
                    </a:p>
                  </a:txBody>
                  <a:tcPr/>
                </a:tc>
                <a:tc>
                  <a:txBody>
                    <a:bodyPr/>
                    <a:lstStyle/>
                    <a:p>
                      <a:pPr marL="0" marR="0" algn="ctr">
                        <a:lnSpc>
                          <a:spcPct val="150000"/>
                        </a:lnSpc>
                        <a:buNone/>
                      </a:pPr>
                      <a:r>
                        <a:rPr lang="tr-TR" sz="1350">
                          <a:effectLst/>
                        </a:rPr>
                        <a:t>Ortaokul</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36</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dirty="0">
                          <a:effectLst/>
                        </a:rPr>
                        <a:t>8,3</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34881187"/>
                  </a:ext>
                </a:extLst>
              </a:tr>
              <a:tr h="278385">
                <a:tc vMerge="1">
                  <a:txBody>
                    <a:bodyPr/>
                    <a:lstStyle/>
                    <a:p>
                      <a:endParaRPr lang="tr-TR"/>
                    </a:p>
                  </a:txBody>
                  <a:tcPr/>
                </a:tc>
                <a:tc>
                  <a:txBody>
                    <a:bodyPr/>
                    <a:lstStyle/>
                    <a:p>
                      <a:pPr marL="0" marR="0" algn="ctr">
                        <a:lnSpc>
                          <a:spcPct val="150000"/>
                        </a:lnSpc>
                        <a:buNone/>
                      </a:pPr>
                      <a:r>
                        <a:rPr lang="tr-TR" sz="1350">
                          <a:effectLst/>
                        </a:rPr>
                        <a:t>Lise</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dirty="0">
                          <a:effectLst/>
                        </a:rPr>
                        <a:t>113</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25,9</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46990546"/>
                  </a:ext>
                </a:extLst>
              </a:tr>
              <a:tr h="278385">
                <a:tc vMerge="1">
                  <a:txBody>
                    <a:bodyPr/>
                    <a:lstStyle/>
                    <a:p>
                      <a:endParaRPr lang="tr-TR"/>
                    </a:p>
                  </a:txBody>
                  <a:tcPr/>
                </a:tc>
                <a:tc>
                  <a:txBody>
                    <a:bodyPr/>
                    <a:lstStyle/>
                    <a:p>
                      <a:pPr marL="0" marR="0" algn="ctr">
                        <a:lnSpc>
                          <a:spcPct val="150000"/>
                        </a:lnSpc>
                        <a:buNone/>
                      </a:pPr>
                      <a:r>
                        <a:rPr lang="tr-TR" sz="1350">
                          <a:effectLst/>
                        </a:rPr>
                        <a:t>Önlisans</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71</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16,3</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89673202"/>
                  </a:ext>
                </a:extLst>
              </a:tr>
              <a:tr h="278385">
                <a:tc vMerge="1">
                  <a:txBody>
                    <a:bodyPr/>
                    <a:lstStyle/>
                    <a:p>
                      <a:endParaRPr lang="tr-TR"/>
                    </a:p>
                  </a:txBody>
                  <a:tcPr/>
                </a:tc>
                <a:tc>
                  <a:txBody>
                    <a:bodyPr/>
                    <a:lstStyle/>
                    <a:p>
                      <a:pPr marL="0" marR="0" algn="ctr">
                        <a:lnSpc>
                          <a:spcPct val="150000"/>
                        </a:lnSpc>
                        <a:buNone/>
                      </a:pPr>
                      <a:r>
                        <a:rPr lang="tr-TR" sz="1350">
                          <a:effectLst/>
                        </a:rPr>
                        <a:t>Lisans</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145</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33,3</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91911304"/>
                  </a:ext>
                </a:extLst>
              </a:tr>
              <a:tr h="278385">
                <a:tc vMerge="1">
                  <a:txBody>
                    <a:bodyPr/>
                    <a:lstStyle/>
                    <a:p>
                      <a:endParaRPr lang="tr-TR"/>
                    </a:p>
                  </a:txBody>
                  <a:tcPr/>
                </a:tc>
                <a:tc>
                  <a:txBody>
                    <a:bodyPr/>
                    <a:lstStyle/>
                    <a:p>
                      <a:pPr marL="0" marR="0" algn="ctr">
                        <a:lnSpc>
                          <a:spcPct val="150000"/>
                        </a:lnSpc>
                        <a:buNone/>
                      </a:pPr>
                      <a:r>
                        <a:rPr lang="tr-TR" sz="1350">
                          <a:effectLst/>
                        </a:rPr>
                        <a:t>Lisansüstü</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15</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3,4</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40649056"/>
                  </a:ext>
                </a:extLst>
              </a:tr>
              <a:tr h="278385">
                <a:tc rowSpan="4">
                  <a:txBody>
                    <a:bodyPr/>
                    <a:lstStyle/>
                    <a:p>
                      <a:pPr marL="0" marR="0" algn="ctr">
                        <a:lnSpc>
                          <a:spcPct val="150000"/>
                        </a:lnSpc>
                        <a:buNone/>
                      </a:pPr>
                      <a:r>
                        <a:rPr lang="tr-TR" sz="1350" dirty="0">
                          <a:effectLst/>
                        </a:rPr>
                        <a:t>En Fazla Kullanılan</a:t>
                      </a:r>
                    </a:p>
                    <a:p>
                      <a:pPr marL="0" marR="0" algn="ctr">
                        <a:lnSpc>
                          <a:spcPct val="150000"/>
                        </a:lnSpc>
                        <a:buNone/>
                      </a:pPr>
                      <a:r>
                        <a:rPr lang="tr-TR" sz="1350" dirty="0">
                          <a:effectLst/>
                        </a:rPr>
                        <a:t>Sosyal Medya</a:t>
                      </a:r>
                    </a:p>
                    <a:p>
                      <a:pPr marL="0" marR="0" algn="ctr">
                        <a:lnSpc>
                          <a:spcPct val="150000"/>
                        </a:lnSpc>
                        <a:buNone/>
                      </a:pPr>
                      <a:r>
                        <a:rPr lang="tr-TR" sz="1350" dirty="0">
                          <a:effectLst/>
                        </a:rPr>
                        <a:t>Platformu</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Instagram</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264</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a:effectLst/>
                        </a:rPr>
                        <a:t>67,4</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07632244"/>
                  </a:ext>
                </a:extLst>
              </a:tr>
              <a:tr h="278385">
                <a:tc vMerge="1">
                  <a:txBody>
                    <a:bodyPr/>
                    <a:lstStyle/>
                    <a:p>
                      <a:endParaRPr lang="tr-TR"/>
                    </a:p>
                  </a:txBody>
                  <a:tcPr/>
                </a:tc>
                <a:tc>
                  <a:txBody>
                    <a:bodyPr/>
                    <a:lstStyle/>
                    <a:p>
                      <a:pPr marL="0" marR="0" algn="ctr">
                        <a:lnSpc>
                          <a:spcPct val="150000"/>
                        </a:lnSpc>
                        <a:buNone/>
                      </a:pPr>
                      <a:r>
                        <a:rPr lang="tr-TR" sz="1350">
                          <a:effectLst/>
                        </a:rPr>
                        <a:t>Facebook</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46</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dirty="0">
                          <a:effectLst/>
                        </a:rPr>
                        <a:t>10,6</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47857551"/>
                  </a:ext>
                </a:extLst>
              </a:tr>
              <a:tr h="0">
                <a:tc vMerge="1">
                  <a:txBody>
                    <a:bodyPr/>
                    <a:lstStyle/>
                    <a:p>
                      <a:endParaRPr lang="tr-TR"/>
                    </a:p>
                  </a:txBody>
                  <a:tcPr/>
                </a:tc>
                <a:tc>
                  <a:txBody>
                    <a:bodyPr/>
                    <a:lstStyle/>
                    <a:p>
                      <a:pPr marL="0" marR="0" algn="ctr">
                        <a:lnSpc>
                          <a:spcPct val="150000"/>
                        </a:lnSpc>
                        <a:buNone/>
                      </a:pPr>
                      <a:r>
                        <a:rPr lang="tr-TR" sz="1350">
                          <a:effectLst/>
                        </a:rPr>
                        <a:t>X(Twitter)</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24</a:t>
                      </a:r>
                      <a:endParaRPr lang="tr-TR" sz="135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dirty="0">
                          <a:effectLst/>
                        </a:rPr>
                        <a:t>5,5</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66125718"/>
                  </a:ext>
                </a:extLst>
              </a:tr>
              <a:tr h="0">
                <a:tc vMerge="1">
                  <a:txBody>
                    <a:bodyPr/>
                    <a:lstStyle/>
                    <a:p>
                      <a:endParaRPr lang="tr-TR"/>
                    </a:p>
                  </a:txBody>
                  <a:tcPr/>
                </a:tc>
                <a:tc>
                  <a:txBody>
                    <a:bodyPr/>
                    <a:lstStyle/>
                    <a:p>
                      <a:pPr marL="0" marR="0" algn="ctr">
                        <a:lnSpc>
                          <a:spcPct val="150000"/>
                        </a:lnSpc>
                        <a:buNone/>
                      </a:pPr>
                      <a:r>
                        <a:rPr lang="tr-TR" sz="1350">
                          <a:effectLst/>
                        </a:rPr>
                        <a:t>Diğer</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tr-TR" sz="1350">
                          <a:effectLst/>
                        </a:rPr>
                        <a:t>72</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tr-TR" sz="1350" dirty="0">
                          <a:effectLst/>
                        </a:rPr>
                        <a:t>16,5</a:t>
                      </a:r>
                      <a:endParaRPr lang="tr-TR" sz="13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76521805"/>
                  </a:ext>
                </a:extLst>
              </a:tr>
            </a:tbl>
          </a:graphicData>
        </a:graphic>
      </p:graphicFrame>
      <p:graphicFrame>
        <p:nvGraphicFramePr>
          <p:cNvPr id="4" name="Tablo 3">
            <a:extLst>
              <a:ext uri="{FF2B5EF4-FFF2-40B4-BE49-F238E27FC236}">
                <a16:creationId xmlns:a16="http://schemas.microsoft.com/office/drawing/2014/main" id="{64F50E59-8412-21BE-A58E-34D4D5E12C79}"/>
              </a:ext>
            </a:extLst>
          </p:cNvPr>
          <p:cNvGraphicFramePr>
            <a:graphicFrameLocks noGrp="1"/>
          </p:cNvGraphicFramePr>
          <p:nvPr>
            <p:extLst>
              <p:ext uri="{D42A27DB-BD31-4B8C-83A1-F6EECF244321}">
                <p14:modId xmlns:p14="http://schemas.microsoft.com/office/powerpoint/2010/main" val="4244064818"/>
              </p:ext>
            </p:extLst>
          </p:nvPr>
        </p:nvGraphicFramePr>
        <p:xfrm>
          <a:off x="434339" y="21443626"/>
          <a:ext cx="9083040" cy="1802393"/>
        </p:xfrm>
        <a:graphic>
          <a:graphicData uri="http://schemas.openxmlformats.org/drawingml/2006/table">
            <a:tbl>
              <a:tblPr firstRow="1" bandRow="1">
                <a:tableStyleId>{7DF18680-E054-41AD-8BC1-D1AEF772440D}</a:tableStyleId>
              </a:tblPr>
              <a:tblGrid>
                <a:gridCol w="1294153">
                  <a:extLst>
                    <a:ext uri="{9D8B030D-6E8A-4147-A177-3AD203B41FA5}">
                      <a16:colId xmlns:a16="http://schemas.microsoft.com/office/drawing/2014/main" val="776368047"/>
                    </a:ext>
                  </a:extLst>
                </a:gridCol>
                <a:gridCol w="2013995">
                  <a:extLst>
                    <a:ext uri="{9D8B030D-6E8A-4147-A177-3AD203B41FA5}">
                      <a16:colId xmlns:a16="http://schemas.microsoft.com/office/drawing/2014/main" val="2388361686"/>
                    </a:ext>
                  </a:extLst>
                </a:gridCol>
                <a:gridCol w="2071869">
                  <a:extLst>
                    <a:ext uri="{9D8B030D-6E8A-4147-A177-3AD203B41FA5}">
                      <a16:colId xmlns:a16="http://schemas.microsoft.com/office/drawing/2014/main" val="3090828609"/>
                    </a:ext>
                  </a:extLst>
                </a:gridCol>
                <a:gridCol w="1919407">
                  <a:extLst>
                    <a:ext uri="{9D8B030D-6E8A-4147-A177-3AD203B41FA5}">
                      <a16:colId xmlns:a16="http://schemas.microsoft.com/office/drawing/2014/main" val="2080803222"/>
                    </a:ext>
                  </a:extLst>
                </a:gridCol>
                <a:gridCol w="1783616">
                  <a:extLst>
                    <a:ext uri="{9D8B030D-6E8A-4147-A177-3AD203B41FA5}">
                      <a16:colId xmlns:a16="http://schemas.microsoft.com/office/drawing/2014/main" val="396370572"/>
                    </a:ext>
                  </a:extLst>
                </a:gridCol>
              </a:tblGrid>
              <a:tr h="548099">
                <a:tc gridSpan="2">
                  <a:txBody>
                    <a:bodyPr/>
                    <a:lstStyle/>
                    <a:p>
                      <a:endParaRPr lang="tr-TR" sz="900" b="1" kern="1200" dirty="0">
                        <a:solidFill>
                          <a:schemeClr val="lt1"/>
                        </a:solidFill>
                        <a:effectLst/>
                        <a:latin typeface="+mn-lt"/>
                        <a:ea typeface="+mn-ea"/>
                        <a:cs typeface="+mn-cs"/>
                      </a:endParaRPr>
                    </a:p>
                  </a:txBody>
                  <a:tcPr/>
                </a:tc>
                <a:tc hMerge="1">
                  <a:txBody>
                    <a:bodyPr/>
                    <a:lstStyle/>
                    <a:p>
                      <a:endParaRPr lang="tr-TR"/>
                    </a:p>
                  </a:txBody>
                  <a:tcPr/>
                </a:tc>
                <a:tc>
                  <a:txBody>
                    <a:bodyPr/>
                    <a:lstStyle/>
                    <a:p>
                      <a:pPr algn="ctr">
                        <a:lnSpc>
                          <a:spcPct val="200000"/>
                        </a:lnSpc>
                      </a:pPr>
                      <a:r>
                        <a:rPr lang="tr-TR" sz="1400" dirty="0"/>
                        <a:t>N</a:t>
                      </a:r>
                    </a:p>
                  </a:txBody>
                  <a:tcPr/>
                </a:tc>
                <a:tc>
                  <a:txBody>
                    <a:bodyPr/>
                    <a:lstStyle/>
                    <a:p>
                      <a:pPr algn="ctr">
                        <a:lnSpc>
                          <a:spcPct val="200000"/>
                        </a:lnSpc>
                      </a:pPr>
                      <a:r>
                        <a:rPr lang="tr-TR" sz="1400" dirty="0"/>
                        <a:t>Ortalama</a:t>
                      </a:r>
                    </a:p>
                  </a:txBody>
                  <a:tcPr/>
                </a:tc>
                <a:tc>
                  <a:txBody>
                    <a:bodyPr/>
                    <a:lstStyle/>
                    <a:p>
                      <a:pPr algn="ctr">
                        <a:lnSpc>
                          <a:spcPct val="200000"/>
                        </a:lnSpc>
                      </a:pPr>
                      <a:r>
                        <a:rPr lang="tr-TR" sz="1400" dirty="0"/>
                        <a:t>p</a:t>
                      </a:r>
                    </a:p>
                  </a:txBody>
                  <a:tcPr/>
                </a:tc>
                <a:extLst>
                  <a:ext uri="{0D108BD9-81ED-4DB2-BD59-A6C34878D82A}">
                    <a16:rowId xmlns:a16="http://schemas.microsoft.com/office/drawing/2014/main" val="2731342422"/>
                  </a:ext>
                </a:extLst>
              </a:tr>
              <a:tr h="627147">
                <a:tc rowSpan="2">
                  <a:txBody>
                    <a:bodyPr/>
                    <a:lstStyle/>
                    <a:p>
                      <a:pPr algn="ctr">
                        <a:lnSpc>
                          <a:spcPct val="100000"/>
                        </a:lnSpc>
                      </a:pPr>
                      <a:r>
                        <a:rPr lang="tr-TR" sz="1400" b="1" baseline="0" dirty="0">
                          <a:solidFill>
                            <a:schemeClr val="bg1"/>
                          </a:solidFill>
                        </a:rPr>
                        <a:t>CEP TELEFONU BAĞIMLILIĞI (ORTALAMA)</a:t>
                      </a:r>
                    </a:p>
                  </a:txBody>
                  <a:tcPr vert="vert270">
                    <a:solidFill>
                      <a:srgbClr val="4472C4"/>
                    </a:solidFill>
                  </a:tcPr>
                </a:tc>
                <a:tc>
                  <a:txBody>
                    <a:bodyPr/>
                    <a:lstStyle/>
                    <a:p>
                      <a:pPr algn="ctr">
                        <a:lnSpc>
                          <a:spcPct val="200000"/>
                        </a:lnSpc>
                      </a:pPr>
                      <a:r>
                        <a:rPr lang="tr-TR" sz="1400" b="0" baseline="0" dirty="0">
                          <a:solidFill>
                            <a:schemeClr val="tx1"/>
                          </a:solidFill>
                        </a:rPr>
                        <a:t>Öğrenci</a:t>
                      </a:r>
                    </a:p>
                  </a:txBody>
                  <a:tcPr>
                    <a:solidFill>
                      <a:srgbClr val="CFD5EA"/>
                    </a:solidFill>
                  </a:tcPr>
                </a:tc>
                <a:tc>
                  <a:txBody>
                    <a:bodyPr/>
                    <a:lstStyle/>
                    <a:p>
                      <a:pPr algn="ctr">
                        <a:lnSpc>
                          <a:spcPct val="200000"/>
                        </a:lnSpc>
                      </a:pPr>
                      <a:r>
                        <a:rPr lang="tr-TR" sz="1400" dirty="0"/>
                        <a:t>113</a:t>
                      </a:r>
                    </a:p>
                  </a:txBody>
                  <a:tcPr>
                    <a:solidFill>
                      <a:srgbClr val="CFD5EA"/>
                    </a:solidFill>
                  </a:tcPr>
                </a:tc>
                <a:tc>
                  <a:txBody>
                    <a:bodyPr/>
                    <a:lstStyle/>
                    <a:p>
                      <a:pPr algn="ctr">
                        <a:lnSpc>
                          <a:spcPct val="200000"/>
                        </a:lnSpc>
                      </a:pPr>
                      <a:r>
                        <a:rPr lang="tr-TR" sz="1400" dirty="0"/>
                        <a:t>3,1782</a:t>
                      </a:r>
                    </a:p>
                  </a:txBody>
                  <a:tcPr/>
                </a:tc>
                <a:tc rowSpan="2">
                  <a:txBody>
                    <a:bodyPr/>
                    <a:lstStyle/>
                    <a:p>
                      <a:pPr algn="ctr">
                        <a:lnSpc>
                          <a:spcPct val="450000"/>
                        </a:lnSpc>
                      </a:pPr>
                      <a:r>
                        <a:rPr lang="tr-TR" sz="1400" b="1" dirty="0"/>
                        <a:t>&lt;0,05</a:t>
                      </a:r>
                    </a:p>
                  </a:txBody>
                  <a:tcPr/>
                </a:tc>
                <a:extLst>
                  <a:ext uri="{0D108BD9-81ED-4DB2-BD59-A6C34878D82A}">
                    <a16:rowId xmlns:a16="http://schemas.microsoft.com/office/drawing/2014/main" val="2798316241"/>
                  </a:ext>
                </a:extLst>
              </a:tr>
              <a:tr h="627147">
                <a:tc vMerge="1">
                  <a:txBody>
                    <a:bodyPr/>
                    <a:lstStyle/>
                    <a:p>
                      <a:endParaRPr lang="tr-TR" dirty="0"/>
                    </a:p>
                  </a:txBody>
                  <a:tcPr/>
                </a:tc>
                <a:tc>
                  <a:txBody>
                    <a:bodyPr/>
                    <a:lstStyle/>
                    <a:p>
                      <a:pPr marL="0" algn="ctr" defTabSz="2138324" rtl="0" eaLnBrk="1" latinLnBrk="0" hangingPunct="1">
                        <a:lnSpc>
                          <a:spcPct val="200000"/>
                        </a:lnSpc>
                      </a:pPr>
                      <a:r>
                        <a:rPr lang="tr-TR" sz="1400" b="0" kern="1200" baseline="0" dirty="0">
                          <a:solidFill>
                            <a:schemeClr val="tx1"/>
                          </a:solidFill>
                          <a:latin typeface="+mn-lt"/>
                          <a:ea typeface="+mn-ea"/>
                          <a:cs typeface="+mn-cs"/>
                        </a:rPr>
                        <a:t>Çalışan</a:t>
                      </a:r>
                    </a:p>
                  </a:txBody>
                  <a:tcPr>
                    <a:solidFill>
                      <a:srgbClr val="E9EBF5"/>
                    </a:solidFill>
                  </a:tcPr>
                </a:tc>
                <a:tc>
                  <a:txBody>
                    <a:bodyPr/>
                    <a:lstStyle/>
                    <a:p>
                      <a:pPr algn="ctr">
                        <a:lnSpc>
                          <a:spcPct val="200000"/>
                        </a:lnSpc>
                      </a:pPr>
                      <a:r>
                        <a:rPr lang="tr-TR" sz="1400" dirty="0"/>
                        <a:t>210</a:t>
                      </a:r>
                    </a:p>
                  </a:txBody>
                  <a:tcPr/>
                </a:tc>
                <a:tc>
                  <a:txBody>
                    <a:bodyPr/>
                    <a:lstStyle/>
                    <a:p>
                      <a:pPr algn="ctr">
                        <a:lnSpc>
                          <a:spcPct val="200000"/>
                        </a:lnSpc>
                      </a:pPr>
                      <a:r>
                        <a:rPr lang="tr-TR" sz="1400" dirty="0"/>
                        <a:t>2,7178</a:t>
                      </a:r>
                    </a:p>
                  </a:txBody>
                  <a:tcPr/>
                </a:tc>
                <a:tc vMerge="1">
                  <a:txBody>
                    <a:bodyPr/>
                    <a:lstStyle/>
                    <a:p>
                      <a:endParaRPr lang="tr-TR" dirty="0"/>
                    </a:p>
                  </a:txBody>
                  <a:tcPr/>
                </a:tc>
                <a:extLst>
                  <a:ext uri="{0D108BD9-81ED-4DB2-BD59-A6C34878D82A}">
                    <a16:rowId xmlns:a16="http://schemas.microsoft.com/office/drawing/2014/main" val="495688206"/>
                  </a:ext>
                </a:extLst>
              </a:tr>
            </a:tbl>
          </a:graphicData>
        </a:graphic>
      </p:graphicFrame>
      <p:graphicFrame>
        <p:nvGraphicFramePr>
          <p:cNvPr id="7" name="Tablo 6">
            <a:extLst>
              <a:ext uri="{FF2B5EF4-FFF2-40B4-BE49-F238E27FC236}">
                <a16:creationId xmlns:a16="http://schemas.microsoft.com/office/drawing/2014/main" id="{934ECD85-768C-6CAC-E783-7AD9443C7001}"/>
              </a:ext>
            </a:extLst>
          </p:cNvPr>
          <p:cNvGraphicFramePr>
            <a:graphicFrameLocks noGrp="1"/>
          </p:cNvGraphicFramePr>
          <p:nvPr>
            <p:extLst>
              <p:ext uri="{D42A27DB-BD31-4B8C-83A1-F6EECF244321}">
                <p14:modId xmlns:p14="http://schemas.microsoft.com/office/powerpoint/2010/main" val="564795851"/>
              </p:ext>
            </p:extLst>
          </p:nvPr>
        </p:nvGraphicFramePr>
        <p:xfrm>
          <a:off x="434339" y="25942870"/>
          <a:ext cx="9083040" cy="1461670"/>
        </p:xfrm>
        <a:graphic>
          <a:graphicData uri="http://schemas.openxmlformats.org/drawingml/2006/table">
            <a:tbl>
              <a:tblPr firstRow="1" bandRow="1">
                <a:tableStyleId>{7DF18680-E054-41AD-8BC1-D1AEF772440D}</a:tableStyleId>
              </a:tblPr>
              <a:tblGrid>
                <a:gridCol w="1816608">
                  <a:extLst>
                    <a:ext uri="{9D8B030D-6E8A-4147-A177-3AD203B41FA5}">
                      <a16:colId xmlns:a16="http://schemas.microsoft.com/office/drawing/2014/main" val="1680084854"/>
                    </a:ext>
                  </a:extLst>
                </a:gridCol>
                <a:gridCol w="1816608">
                  <a:extLst>
                    <a:ext uri="{9D8B030D-6E8A-4147-A177-3AD203B41FA5}">
                      <a16:colId xmlns:a16="http://schemas.microsoft.com/office/drawing/2014/main" val="343390226"/>
                    </a:ext>
                  </a:extLst>
                </a:gridCol>
                <a:gridCol w="1816608">
                  <a:extLst>
                    <a:ext uri="{9D8B030D-6E8A-4147-A177-3AD203B41FA5}">
                      <a16:colId xmlns:a16="http://schemas.microsoft.com/office/drawing/2014/main" val="4197552558"/>
                    </a:ext>
                  </a:extLst>
                </a:gridCol>
                <a:gridCol w="1816608">
                  <a:extLst>
                    <a:ext uri="{9D8B030D-6E8A-4147-A177-3AD203B41FA5}">
                      <a16:colId xmlns:a16="http://schemas.microsoft.com/office/drawing/2014/main" val="1272520213"/>
                    </a:ext>
                  </a:extLst>
                </a:gridCol>
                <a:gridCol w="1816608">
                  <a:extLst>
                    <a:ext uri="{9D8B030D-6E8A-4147-A177-3AD203B41FA5}">
                      <a16:colId xmlns:a16="http://schemas.microsoft.com/office/drawing/2014/main" val="2973998492"/>
                    </a:ext>
                  </a:extLst>
                </a:gridCol>
              </a:tblGrid>
              <a:tr h="730835">
                <a:tc rowSpan="2">
                  <a:txBody>
                    <a:bodyPr/>
                    <a:lstStyle/>
                    <a:p>
                      <a:pPr algn="ctr">
                        <a:lnSpc>
                          <a:spcPct val="300000"/>
                        </a:lnSpc>
                      </a:pPr>
                      <a:r>
                        <a:rPr lang="tr-TR" sz="1400" dirty="0"/>
                        <a:t>ORTALAMA</a:t>
                      </a:r>
                    </a:p>
                  </a:txBody>
                  <a:tcPr vert="vert270"/>
                </a:tc>
                <a:tc>
                  <a:txBody>
                    <a:bodyPr/>
                    <a:lstStyle/>
                    <a:p>
                      <a:pPr algn="ctr">
                        <a:lnSpc>
                          <a:spcPct val="200000"/>
                        </a:lnSpc>
                      </a:pPr>
                      <a:r>
                        <a:rPr lang="tr-TR" sz="1400" dirty="0"/>
                        <a:t>Ortaokul ve Altı</a:t>
                      </a:r>
                    </a:p>
                  </a:txBody>
                  <a:tcPr/>
                </a:tc>
                <a:tc>
                  <a:txBody>
                    <a:bodyPr/>
                    <a:lstStyle/>
                    <a:p>
                      <a:pPr algn="ctr">
                        <a:lnSpc>
                          <a:spcPct val="200000"/>
                        </a:lnSpc>
                      </a:pPr>
                      <a:r>
                        <a:rPr lang="tr-TR" sz="1400" dirty="0"/>
                        <a:t>Lise</a:t>
                      </a:r>
                    </a:p>
                  </a:txBody>
                  <a:tcPr/>
                </a:tc>
                <a:tc>
                  <a:txBody>
                    <a:bodyPr/>
                    <a:lstStyle/>
                    <a:p>
                      <a:pPr algn="ctr">
                        <a:lnSpc>
                          <a:spcPct val="200000"/>
                        </a:lnSpc>
                      </a:pPr>
                      <a:r>
                        <a:rPr lang="tr-TR" sz="1400" dirty="0"/>
                        <a:t>Ön Lisans ve Üstü</a:t>
                      </a:r>
                    </a:p>
                  </a:txBody>
                  <a:tcPr/>
                </a:tc>
                <a:tc>
                  <a:txBody>
                    <a:bodyPr/>
                    <a:lstStyle/>
                    <a:p>
                      <a:pPr algn="ctr">
                        <a:lnSpc>
                          <a:spcPct val="200000"/>
                        </a:lnSpc>
                      </a:pPr>
                      <a:r>
                        <a:rPr lang="tr-TR" sz="1400" dirty="0"/>
                        <a:t>p</a:t>
                      </a:r>
                    </a:p>
                  </a:txBody>
                  <a:tcPr/>
                </a:tc>
                <a:extLst>
                  <a:ext uri="{0D108BD9-81ED-4DB2-BD59-A6C34878D82A}">
                    <a16:rowId xmlns:a16="http://schemas.microsoft.com/office/drawing/2014/main" val="1959119279"/>
                  </a:ext>
                </a:extLst>
              </a:tr>
              <a:tr h="730835">
                <a:tc vMerge="1">
                  <a:txBody>
                    <a:bodyPr/>
                    <a:lstStyle/>
                    <a:p>
                      <a:endParaRPr lang="tr-TR" dirty="0"/>
                    </a:p>
                  </a:txBody>
                  <a:tcPr>
                    <a:solidFill>
                      <a:srgbClr val="4472C4"/>
                    </a:solidFill>
                  </a:tcPr>
                </a:tc>
                <a:tc>
                  <a:txBody>
                    <a:bodyPr/>
                    <a:lstStyle/>
                    <a:p>
                      <a:pPr algn="ctr">
                        <a:lnSpc>
                          <a:spcPct val="200000"/>
                        </a:lnSpc>
                      </a:pPr>
                      <a:r>
                        <a:rPr lang="tr-TR" sz="1400" dirty="0"/>
                        <a:t>2,5616</a:t>
                      </a:r>
                    </a:p>
                  </a:txBody>
                  <a:tcPr/>
                </a:tc>
                <a:tc>
                  <a:txBody>
                    <a:bodyPr/>
                    <a:lstStyle/>
                    <a:p>
                      <a:pPr algn="ctr">
                        <a:lnSpc>
                          <a:spcPct val="200000"/>
                        </a:lnSpc>
                      </a:pPr>
                      <a:r>
                        <a:rPr lang="tr-TR" sz="1400" dirty="0"/>
                        <a:t>2,6513</a:t>
                      </a:r>
                    </a:p>
                  </a:txBody>
                  <a:tcPr/>
                </a:tc>
                <a:tc>
                  <a:txBody>
                    <a:bodyPr/>
                    <a:lstStyle/>
                    <a:p>
                      <a:pPr algn="ctr">
                        <a:lnSpc>
                          <a:spcPct val="200000"/>
                        </a:lnSpc>
                      </a:pPr>
                      <a:r>
                        <a:rPr lang="tr-TR" sz="1400" dirty="0"/>
                        <a:t>3,0139</a:t>
                      </a:r>
                    </a:p>
                  </a:txBody>
                  <a:tcPr/>
                </a:tc>
                <a:tc>
                  <a:txBody>
                    <a:bodyPr/>
                    <a:lstStyle/>
                    <a:p>
                      <a:pPr algn="ctr">
                        <a:lnSpc>
                          <a:spcPct val="200000"/>
                        </a:lnSpc>
                      </a:pPr>
                      <a:r>
                        <a:rPr lang="tr-TR" sz="1400" b="1" dirty="0"/>
                        <a:t>&lt;0,05</a:t>
                      </a:r>
                    </a:p>
                  </a:txBody>
                  <a:tcPr/>
                </a:tc>
                <a:extLst>
                  <a:ext uri="{0D108BD9-81ED-4DB2-BD59-A6C34878D82A}">
                    <a16:rowId xmlns:a16="http://schemas.microsoft.com/office/drawing/2014/main" val="848761037"/>
                  </a:ext>
                </a:extLst>
              </a:tr>
            </a:tbl>
          </a:graphicData>
        </a:graphic>
      </p:graphicFrame>
      <p:graphicFrame>
        <p:nvGraphicFramePr>
          <p:cNvPr id="14" name="Tablo 13">
            <a:extLst>
              <a:ext uri="{FF2B5EF4-FFF2-40B4-BE49-F238E27FC236}">
                <a16:creationId xmlns:a16="http://schemas.microsoft.com/office/drawing/2014/main" id="{E796458D-D8AF-2FED-E532-F7470352AA43}"/>
              </a:ext>
            </a:extLst>
          </p:cNvPr>
          <p:cNvGraphicFramePr>
            <a:graphicFrameLocks noGrp="1"/>
          </p:cNvGraphicFramePr>
          <p:nvPr>
            <p:extLst>
              <p:ext uri="{D42A27DB-BD31-4B8C-83A1-F6EECF244321}">
                <p14:modId xmlns:p14="http://schemas.microsoft.com/office/powerpoint/2010/main" val="137053116"/>
              </p:ext>
            </p:extLst>
          </p:nvPr>
        </p:nvGraphicFramePr>
        <p:xfrm>
          <a:off x="11262166" y="6948280"/>
          <a:ext cx="9083040" cy="5349494"/>
        </p:xfrm>
        <a:graphic>
          <a:graphicData uri="http://schemas.openxmlformats.org/drawingml/2006/table">
            <a:tbl>
              <a:tblPr firstRow="1" bandRow="1">
                <a:tableStyleId>{7DF18680-E054-41AD-8BC1-D1AEF772440D}</a:tableStyleId>
              </a:tblPr>
              <a:tblGrid>
                <a:gridCol w="2764520">
                  <a:extLst>
                    <a:ext uri="{9D8B030D-6E8A-4147-A177-3AD203B41FA5}">
                      <a16:colId xmlns:a16="http://schemas.microsoft.com/office/drawing/2014/main" val="643007041"/>
                    </a:ext>
                  </a:extLst>
                </a:gridCol>
                <a:gridCol w="1481560">
                  <a:extLst>
                    <a:ext uri="{9D8B030D-6E8A-4147-A177-3AD203B41FA5}">
                      <a16:colId xmlns:a16="http://schemas.microsoft.com/office/drawing/2014/main" val="654899336"/>
                    </a:ext>
                  </a:extLst>
                </a:gridCol>
                <a:gridCol w="1551007">
                  <a:extLst>
                    <a:ext uri="{9D8B030D-6E8A-4147-A177-3AD203B41FA5}">
                      <a16:colId xmlns:a16="http://schemas.microsoft.com/office/drawing/2014/main" val="3959689436"/>
                    </a:ext>
                  </a:extLst>
                </a:gridCol>
                <a:gridCol w="1469345">
                  <a:extLst>
                    <a:ext uri="{9D8B030D-6E8A-4147-A177-3AD203B41FA5}">
                      <a16:colId xmlns:a16="http://schemas.microsoft.com/office/drawing/2014/main" val="765887714"/>
                    </a:ext>
                  </a:extLst>
                </a:gridCol>
                <a:gridCol w="1816608">
                  <a:extLst>
                    <a:ext uri="{9D8B030D-6E8A-4147-A177-3AD203B41FA5}">
                      <a16:colId xmlns:a16="http://schemas.microsoft.com/office/drawing/2014/main" val="2413713457"/>
                    </a:ext>
                  </a:extLst>
                </a:gridCol>
              </a:tblGrid>
              <a:tr h="370840">
                <a:tc>
                  <a:txBody>
                    <a:bodyPr/>
                    <a:lstStyle/>
                    <a:p>
                      <a:pPr algn="ctr"/>
                      <a:r>
                        <a:rPr lang="tr-TR" sz="1600" dirty="0"/>
                        <a:t>Kuşaklara Göre </a:t>
                      </a:r>
                      <a:r>
                        <a:rPr lang="tr-TR" sz="1600" dirty="0" err="1"/>
                        <a:t>Anova</a:t>
                      </a:r>
                      <a:endParaRPr lang="tr-TR" sz="1600" dirty="0"/>
                    </a:p>
                  </a:txBody>
                  <a:tcPr/>
                </a:tc>
                <a:tc>
                  <a:txBody>
                    <a:bodyPr/>
                    <a:lstStyle/>
                    <a:p>
                      <a:pPr algn="ctr"/>
                      <a:r>
                        <a:rPr lang="tr-TR" sz="1600" dirty="0"/>
                        <a:t>X</a:t>
                      </a:r>
                    </a:p>
                  </a:txBody>
                  <a:tcPr/>
                </a:tc>
                <a:tc>
                  <a:txBody>
                    <a:bodyPr/>
                    <a:lstStyle/>
                    <a:p>
                      <a:pPr algn="ctr"/>
                      <a:r>
                        <a:rPr lang="tr-TR" sz="1600" dirty="0"/>
                        <a:t>Y</a:t>
                      </a:r>
                    </a:p>
                  </a:txBody>
                  <a:tcPr/>
                </a:tc>
                <a:tc>
                  <a:txBody>
                    <a:bodyPr/>
                    <a:lstStyle/>
                    <a:p>
                      <a:pPr algn="ctr"/>
                      <a:r>
                        <a:rPr lang="tr-TR" sz="1600" dirty="0"/>
                        <a:t>Z</a:t>
                      </a:r>
                    </a:p>
                  </a:txBody>
                  <a:tcPr/>
                </a:tc>
                <a:tc>
                  <a:txBody>
                    <a:bodyPr/>
                    <a:lstStyle/>
                    <a:p>
                      <a:pPr algn="ctr"/>
                      <a:r>
                        <a:rPr lang="tr-TR" sz="1600" dirty="0"/>
                        <a:t>p</a:t>
                      </a:r>
                    </a:p>
                  </a:txBody>
                  <a:tcPr/>
                </a:tc>
                <a:extLst>
                  <a:ext uri="{0D108BD9-81ED-4DB2-BD59-A6C34878D82A}">
                    <a16:rowId xmlns:a16="http://schemas.microsoft.com/office/drawing/2014/main" val="1312401332"/>
                  </a:ext>
                </a:extLst>
              </a:tr>
              <a:tr h="370840">
                <a:tc>
                  <a:txBody>
                    <a:bodyPr/>
                    <a:lstStyle/>
                    <a:p>
                      <a:pPr algn="ctr">
                        <a:lnSpc>
                          <a:spcPct val="150000"/>
                        </a:lnSpc>
                      </a:pPr>
                      <a:r>
                        <a:rPr lang="tr-TR" sz="1600" dirty="0"/>
                        <a:t>İletişim</a:t>
                      </a:r>
                    </a:p>
                  </a:txBody>
                  <a:tcPr/>
                </a:tc>
                <a:tc>
                  <a:txBody>
                    <a:bodyPr/>
                    <a:lstStyle/>
                    <a:p>
                      <a:pPr algn="ctr">
                        <a:lnSpc>
                          <a:spcPct val="150000"/>
                        </a:lnSpc>
                      </a:pPr>
                      <a:r>
                        <a:rPr lang="tr-TR" sz="1600" dirty="0"/>
                        <a:t>2,63</a:t>
                      </a:r>
                    </a:p>
                  </a:txBody>
                  <a:tcPr/>
                </a:tc>
                <a:tc>
                  <a:txBody>
                    <a:bodyPr/>
                    <a:lstStyle/>
                    <a:p>
                      <a:pPr algn="ctr">
                        <a:lnSpc>
                          <a:spcPct val="150000"/>
                        </a:lnSpc>
                      </a:pPr>
                      <a:r>
                        <a:rPr lang="tr-TR" sz="1600" dirty="0"/>
                        <a:t>2,78</a:t>
                      </a:r>
                    </a:p>
                  </a:txBody>
                  <a:tcPr/>
                </a:tc>
                <a:tc>
                  <a:txBody>
                    <a:bodyPr/>
                    <a:lstStyle/>
                    <a:p>
                      <a:pPr algn="ctr">
                        <a:lnSpc>
                          <a:spcPct val="150000"/>
                        </a:lnSpc>
                      </a:pPr>
                      <a:r>
                        <a:rPr lang="tr-TR" sz="1600" dirty="0"/>
                        <a:t>3,54</a:t>
                      </a:r>
                    </a:p>
                  </a:txBody>
                  <a:tcPr/>
                </a:tc>
                <a:tc>
                  <a:txBody>
                    <a:bodyPr/>
                    <a:lstStyle/>
                    <a:p>
                      <a:pPr algn="ctr">
                        <a:lnSpc>
                          <a:spcPct val="150000"/>
                        </a:lnSpc>
                      </a:pPr>
                      <a:r>
                        <a:rPr lang="tr-TR" sz="1600" b="1" dirty="0"/>
                        <a:t>&lt;0,05</a:t>
                      </a:r>
                    </a:p>
                  </a:txBody>
                  <a:tcPr/>
                </a:tc>
                <a:extLst>
                  <a:ext uri="{0D108BD9-81ED-4DB2-BD59-A6C34878D82A}">
                    <a16:rowId xmlns:a16="http://schemas.microsoft.com/office/drawing/2014/main" val="2238863870"/>
                  </a:ext>
                </a:extLst>
              </a:tr>
              <a:tr h="370840">
                <a:tc>
                  <a:txBody>
                    <a:bodyPr/>
                    <a:lstStyle/>
                    <a:p>
                      <a:pPr algn="ctr">
                        <a:lnSpc>
                          <a:spcPct val="150000"/>
                        </a:lnSpc>
                      </a:pPr>
                      <a:r>
                        <a:rPr lang="tr-TR" sz="1600" dirty="0"/>
                        <a:t>Eğlence</a:t>
                      </a:r>
                    </a:p>
                  </a:txBody>
                  <a:tcPr/>
                </a:tc>
                <a:tc>
                  <a:txBody>
                    <a:bodyPr/>
                    <a:lstStyle/>
                    <a:p>
                      <a:pPr algn="ctr">
                        <a:lnSpc>
                          <a:spcPct val="150000"/>
                        </a:lnSpc>
                      </a:pPr>
                      <a:r>
                        <a:rPr lang="tr-TR" sz="1600" dirty="0"/>
                        <a:t>3,51</a:t>
                      </a:r>
                    </a:p>
                  </a:txBody>
                  <a:tcPr/>
                </a:tc>
                <a:tc>
                  <a:txBody>
                    <a:bodyPr/>
                    <a:lstStyle/>
                    <a:p>
                      <a:pPr algn="ctr">
                        <a:lnSpc>
                          <a:spcPct val="150000"/>
                        </a:lnSpc>
                      </a:pPr>
                      <a:r>
                        <a:rPr lang="tr-TR" sz="1600" dirty="0"/>
                        <a:t>3,24</a:t>
                      </a:r>
                    </a:p>
                  </a:txBody>
                  <a:tcPr/>
                </a:tc>
                <a:tc>
                  <a:txBody>
                    <a:bodyPr/>
                    <a:lstStyle/>
                    <a:p>
                      <a:pPr algn="ctr">
                        <a:lnSpc>
                          <a:spcPct val="150000"/>
                        </a:lnSpc>
                      </a:pPr>
                      <a:r>
                        <a:rPr lang="tr-TR" sz="1600" dirty="0"/>
                        <a:t>3,32</a:t>
                      </a:r>
                    </a:p>
                  </a:txBody>
                  <a:tcPr/>
                </a:tc>
                <a:tc>
                  <a:txBody>
                    <a:bodyPr/>
                    <a:lstStyle/>
                    <a:p>
                      <a:pPr algn="ctr">
                        <a:lnSpc>
                          <a:spcPct val="150000"/>
                        </a:lnSpc>
                      </a:pPr>
                      <a:r>
                        <a:rPr lang="tr-TR" sz="1600" dirty="0"/>
                        <a:t>&gt;0,05</a:t>
                      </a:r>
                    </a:p>
                  </a:txBody>
                  <a:tcPr/>
                </a:tc>
                <a:extLst>
                  <a:ext uri="{0D108BD9-81ED-4DB2-BD59-A6C34878D82A}">
                    <a16:rowId xmlns:a16="http://schemas.microsoft.com/office/drawing/2014/main" val="683222103"/>
                  </a:ext>
                </a:extLst>
              </a:tr>
              <a:tr h="370840">
                <a:tc>
                  <a:txBody>
                    <a:bodyPr/>
                    <a:lstStyle/>
                    <a:p>
                      <a:pPr algn="ctr">
                        <a:lnSpc>
                          <a:spcPct val="150000"/>
                        </a:lnSpc>
                      </a:pPr>
                      <a:r>
                        <a:rPr lang="tr-TR" sz="1600" dirty="0"/>
                        <a:t>Boş Zaman Değerlendirmek</a:t>
                      </a:r>
                    </a:p>
                  </a:txBody>
                  <a:tcPr/>
                </a:tc>
                <a:tc>
                  <a:txBody>
                    <a:bodyPr/>
                    <a:lstStyle/>
                    <a:p>
                      <a:pPr algn="ctr">
                        <a:lnSpc>
                          <a:spcPct val="150000"/>
                        </a:lnSpc>
                      </a:pPr>
                      <a:r>
                        <a:rPr lang="tr-TR" sz="1600" dirty="0"/>
                        <a:t>2,96</a:t>
                      </a:r>
                    </a:p>
                  </a:txBody>
                  <a:tcPr/>
                </a:tc>
                <a:tc>
                  <a:txBody>
                    <a:bodyPr/>
                    <a:lstStyle/>
                    <a:p>
                      <a:pPr algn="ctr">
                        <a:lnSpc>
                          <a:spcPct val="150000"/>
                        </a:lnSpc>
                      </a:pPr>
                      <a:r>
                        <a:rPr lang="tr-TR" sz="1600" dirty="0"/>
                        <a:t>3,10</a:t>
                      </a:r>
                    </a:p>
                  </a:txBody>
                  <a:tcPr/>
                </a:tc>
                <a:tc>
                  <a:txBody>
                    <a:bodyPr/>
                    <a:lstStyle/>
                    <a:p>
                      <a:pPr algn="ctr">
                        <a:lnSpc>
                          <a:spcPct val="150000"/>
                        </a:lnSpc>
                      </a:pPr>
                      <a:r>
                        <a:rPr lang="tr-TR" sz="1600" dirty="0"/>
                        <a:t>3,67</a:t>
                      </a:r>
                    </a:p>
                  </a:txBody>
                  <a:tcPr/>
                </a:tc>
                <a:tc>
                  <a:txBody>
                    <a:bodyPr/>
                    <a:lstStyle/>
                    <a:p>
                      <a:pPr algn="ctr">
                        <a:lnSpc>
                          <a:spcPct val="150000"/>
                        </a:lnSpc>
                      </a:pPr>
                      <a:r>
                        <a:rPr lang="tr-TR" sz="1600" b="1" dirty="0"/>
                        <a:t>&lt;0,05</a:t>
                      </a:r>
                    </a:p>
                  </a:txBody>
                  <a:tcPr/>
                </a:tc>
                <a:extLst>
                  <a:ext uri="{0D108BD9-81ED-4DB2-BD59-A6C34878D82A}">
                    <a16:rowId xmlns:a16="http://schemas.microsoft.com/office/drawing/2014/main" val="2128470051"/>
                  </a:ext>
                </a:extLst>
              </a:tr>
              <a:tr h="370840">
                <a:tc>
                  <a:txBody>
                    <a:bodyPr/>
                    <a:lstStyle/>
                    <a:p>
                      <a:pPr algn="ctr">
                        <a:lnSpc>
                          <a:spcPct val="150000"/>
                        </a:lnSpc>
                      </a:pPr>
                      <a:r>
                        <a:rPr lang="tr-TR" sz="1600" dirty="0"/>
                        <a:t>Müzik Dinlemek</a:t>
                      </a:r>
                    </a:p>
                  </a:txBody>
                  <a:tcPr/>
                </a:tc>
                <a:tc>
                  <a:txBody>
                    <a:bodyPr/>
                    <a:lstStyle/>
                    <a:p>
                      <a:pPr algn="ctr">
                        <a:lnSpc>
                          <a:spcPct val="150000"/>
                        </a:lnSpc>
                      </a:pPr>
                      <a:r>
                        <a:rPr lang="tr-TR" sz="1600" dirty="0"/>
                        <a:t>2,35</a:t>
                      </a:r>
                    </a:p>
                  </a:txBody>
                  <a:tcPr/>
                </a:tc>
                <a:tc>
                  <a:txBody>
                    <a:bodyPr/>
                    <a:lstStyle/>
                    <a:p>
                      <a:pPr algn="ctr">
                        <a:lnSpc>
                          <a:spcPct val="150000"/>
                        </a:lnSpc>
                      </a:pPr>
                      <a:r>
                        <a:rPr lang="tr-TR" sz="1600" dirty="0"/>
                        <a:t>2,28</a:t>
                      </a:r>
                    </a:p>
                  </a:txBody>
                  <a:tcPr/>
                </a:tc>
                <a:tc>
                  <a:txBody>
                    <a:bodyPr/>
                    <a:lstStyle/>
                    <a:p>
                      <a:pPr algn="ctr">
                        <a:lnSpc>
                          <a:spcPct val="150000"/>
                        </a:lnSpc>
                      </a:pPr>
                      <a:r>
                        <a:rPr lang="tr-TR" sz="1600" dirty="0"/>
                        <a:t>3,18</a:t>
                      </a:r>
                    </a:p>
                  </a:txBody>
                  <a:tcPr/>
                </a:tc>
                <a:tc>
                  <a:txBody>
                    <a:bodyPr/>
                    <a:lstStyle/>
                    <a:p>
                      <a:pPr algn="ctr">
                        <a:lnSpc>
                          <a:spcPct val="150000"/>
                        </a:lnSpc>
                      </a:pPr>
                      <a:r>
                        <a:rPr lang="tr-TR" sz="1600" b="1" dirty="0"/>
                        <a:t>&lt;0,05</a:t>
                      </a:r>
                    </a:p>
                  </a:txBody>
                  <a:tcPr/>
                </a:tc>
                <a:extLst>
                  <a:ext uri="{0D108BD9-81ED-4DB2-BD59-A6C34878D82A}">
                    <a16:rowId xmlns:a16="http://schemas.microsoft.com/office/drawing/2014/main" val="1343530814"/>
                  </a:ext>
                </a:extLst>
              </a:tr>
              <a:tr h="370840">
                <a:tc>
                  <a:txBody>
                    <a:bodyPr/>
                    <a:lstStyle/>
                    <a:p>
                      <a:pPr algn="ctr">
                        <a:lnSpc>
                          <a:spcPct val="150000"/>
                        </a:lnSpc>
                      </a:pPr>
                      <a:r>
                        <a:rPr lang="tr-TR" sz="1600" dirty="0"/>
                        <a:t>Mesajlaşmak</a:t>
                      </a:r>
                    </a:p>
                  </a:txBody>
                  <a:tcPr/>
                </a:tc>
                <a:tc>
                  <a:txBody>
                    <a:bodyPr/>
                    <a:lstStyle/>
                    <a:p>
                      <a:pPr algn="ctr">
                        <a:lnSpc>
                          <a:spcPct val="150000"/>
                        </a:lnSpc>
                      </a:pPr>
                      <a:r>
                        <a:rPr lang="tr-TR" sz="1600" dirty="0"/>
                        <a:t>2,73</a:t>
                      </a:r>
                    </a:p>
                  </a:txBody>
                  <a:tcPr/>
                </a:tc>
                <a:tc>
                  <a:txBody>
                    <a:bodyPr/>
                    <a:lstStyle/>
                    <a:p>
                      <a:pPr algn="ctr">
                        <a:lnSpc>
                          <a:spcPct val="150000"/>
                        </a:lnSpc>
                      </a:pPr>
                      <a:r>
                        <a:rPr lang="tr-TR" sz="1600" dirty="0"/>
                        <a:t>2,88</a:t>
                      </a:r>
                    </a:p>
                  </a:txBody>
                  <a:tcPr/>
                </a:tc>
                <a:tc>
                  <a:txBody>
                    <a:bodyPr/>
                    <a:lstStyle/>
                    <a:p>
                      <a:pPr algn="ctr">
                        <a:lnSpc>
                          <a:spcPct val="150000"/>
                        </a:lnSpc>
                      </a:pPr>
                      <a:r>
                        <a:rPr lang="tr-TR" sz="1600" dirty="0"/>
                        <a:t>3,62</a:t>
                      </a:r>
                    </a:p>
                  </a:txBody>
                  <a:tcPr/>
                </a:tc>
                <a:tc>
                  <a:txBody>
                    <a:bodyPr/>
                    <a:lstStyle/>
                    <a:p>
                      <a:pPr algn="ctr">
                        <a:lnSpc>
                          <a:spcPct val="150000"/>
                        </a:lnSpc>
                      </a:pPr>
                      <a:r>
                        <a:rPr lang="tr-TR" sz="1600" b="1" dirty="0"/>
                        <a:t>&lt;0,05</a:t>
                      </a:r>
                    </a:p>
                  </a:txBody>
                  <a:tcPr/>
                </a:tc>
                <a:extLst>
                  <a:ext uri="{0D108BD9-81ED-4DB2-BD59-A6C34878D82A}">
                    <a16:rowId xmlns:a16="http://schemas.microsoft.com/office/drawing/2014/main" val="3692868325"/>
                  </a:ext>
                </a:extLst>
              </a:tr>
              <a:tr h="370840">
                <a:tc>
                  <a:txBody>
                    <a:bodyPr/>
                    <a:lstStyle/>
                    <a:p>
                      <a:pPr algn="ctr">
                        <a:lnSpc>
                          <a:spcPct val="150000"/>
                        </a:lnSpc>
                      </a:pPr>
                      <a:r>
                        <a:rPr lang="tr-TR" sz="1600" dirty="0"/>
                        <a:t>İnsanları Daha İyi Tanımak</a:t>
                      </a:r>
                    </a:p>
                  </a:txBody>
                  <a:tcPr/>
                </a:tc>
                <a:tc>
                  <a:txBody>
                    <a:bodyPr/>
                    <a:lstStyle/>
                    <a:p>
                      <a:pPr algn="ctr">
                        <a:lnSpc>
                          <a:spcPct val="150000"/>
                        </a:lnSpc>
                      </a:pPr>
                      <a:r>
                        <a:rPr lang="tr-TR" sz="1600" dirty="0"/>
                        <a:t>1,96</a:t>
                      </a:r>
                    </a:p>
                  </a:txBody>
                  <a:tcPr/>
                </a:tc>
                <a:tc>
                  <a:txBody>
                    <a:bodyPr/>
                    <a:lstStyle/>
                    <a:p>
                      <a:pPr algn="ctr">
                        <a:lnSpc>
                          <a:spcPct val="150000"/>
                        </a:lnSpc>
                      </a:pPr>
                      <a:r>
                        <a:rPr lang="tr-TR" sz="1600" dirty="0"/>
                        <a:t>2,05</a:t>
                      </a:r>
                    </a:p>
                  </a:txBody>
                  <a:tcPr/>
                </a:tc>
                <a:tc>
                  <a:txBody>
                    <a:bodyPr/>
                    <a:lstStyle/>
                    <a:p>
                      <a:pPr algn="ctr">
                        <a:lnSpc>
                          <a:spcPct val="150000"/>
                        </a:lnSpc>
                      </a:pPr>
                      <a:r>
                        <a:rPr lang="tr-TR" sz="1600" dirty="0"/>
                        <a:t>2,53</a:t>
                      </a:r>
                    </a:p>
                  </a:txBody>
                  <a:tcPr/>
                </a:tc>
                <a:tc>
                  <a:txBody>
                    <a:bodyPr/>
                    <a:lstStyle/>
                    <a:p>
                      <a:pPr algn="ctr">
                        <a:lnSpc>
                          <a:spcPct val="150000"/>
                        </a:lnSpc>
                      </a:pPr>
                      <a:r>
                        <a:rPr lang="tr-TR" sz="1600" b="1" dirty="0"/>
                        <a:t>&lt;0,05</a:t>
                      </a:r>
                    </a:p>
                  </a:txBody>
                  <a:tcPr/>
                </a:tc>
                <a:extLst>
                  <a:ext uri="{0D108BD9-81ED-4DB2-BD59-A6C34878D82A}">
                    <a16:rowId xmlns:a16="http://schemas.microsoft.com/office/drawing/2014/main" val="1192728088"/>
                  </a:ext>
                </a:extLst>
              </a:tr>
              <a:tr h="370840">
                <a:tc>
                  <a:txBody>
                    <a:bodyPr/>
                    <a:lstStyle/>
                    <a:p>
                      <a:pPr algn="ctr">
                        <a:lnSpc>
                          <a:spcPct val="150000"/>
                        </a:lnSpc>
                      </a:pPr>
                      <a:r>
                        <a:rPr lang="tr-TR" sz="1600" dirty="0"/>
                        <a:t>Gündemi Takip Etmek</a:t>
                      </a:r>
                    </a:p>
                  </a:txBody>
                  <a:tcPr/>
                </a:tc>
                <a:tc>
                  <a:txBody>
                    <a:bodyPr/>
                    <a:lstStyle/>
                    <a:p>
                      <a:pPr algn="ctr">
                        <a:lnSpc>
                          <a:spcPct val="150000"/>
                        </a:lnSpc>
                      </a:pPr>
                      <a:r>
                        <a:rPr lang="tr-TR" sz="1600" dirty="0"/>
                        <a:t>3,30</a:t>
                      </a:r>
                    </a:p>
                  </a:txBody>
                  <a:tcPr/>
                </a:tc>
                <a:tc>
                  <a:txBody>
                    <a:bodyPr/>
                    <a:lstStyle/>
                    <a:p>
                      <a:pPr algn="ctr">
                        <a:lnSpc>
                          <a:spcPct val="150000"/>
                        </a:lnSpc>
                      </a:pPr>
                      <a:r>
                        <a:rPr lang="tr-TR" sz="1600" dirty="0"/>
                        <a:t>3,46</a:t>
                      </a:r>
                    </a:p>
                  </a:txBody>
                  <a:tcPr/>
                </a:tc>
                <a:tc>
                  <a:txBody>
                    <a:bodyPr/>
                    <a:lstStyle/>
                    <a:p>
                      <a:pPr algn="ctr">
                        <a:lnSpc>
                          <a:spcPct val="150000"/>
                        </a:lnSpc>
                      </a:pPr>
                      <a:r>
                        <a:rPr lang="tr-TR" sz="1600" dirty="0"/>
                        <a:t>3,86</a:t>
                      </a:r>
                    </a:p>
                  </a:txBody>
                  <a:tcPr/>
                </a:tc>
                <a:tc>
                  <a:txBody>
                    <a:bodyPr/>
                    <a:lstStyle/>
                    <a:p>
                      <a:pPr algn="ctr">
                        <a:lnSpc>
                          <a:spcPct val="150000"/>
                        </a:lnSpc>
                      </a:pPr>
                      <a:r>
                        <a:rPr lang="tr-TR" sz="1600" b="1" dirty="0"/>
                        <a:t>&lt;0,05</a:t>
                      </a:r>
                    </a:p>
                  </a:txBody>
                  <a:tcPr/>
                </a:tc>
                <a:extLst>
                  <a:ext uri="{0D108BD9-81ED-4DB2-BD59-A6C34878D82A}">
                    <a16:rowId xmlns:a16="http://schemas.microsoft.com/office/drawing/2014/main" val="3135094393"/>
                  </a:ext>
                </a:extLst>
              </a:tr>
              <a:tr h="370840">
                <a:tc>
                  <a:txBody>
                    <a:bodyPr/>
                    <a:lstStyle/>
                    <a:p>
                      <a:pPr algn="ctr">
                        <a:lnSpc>
                          <a:spcPct val="150000"/>
                        </a:lnSpc>
                      </a:pPr>
                      <a:r>
                        <a:rPr lang="tr-TR" sz="1600" dirty="0"/>
                        <a:t>Kişisel Sunum ve Bilgi Paylaşmak</a:t>
                      </a:r>
                    </a:p>
                  </a:txBody>
                  <a:tcPr/>
                </a:tc>
                <a:tc>
                  <a:txBody>
                    <a:bodyPr/>
                    <a:lstStyle/>
                    <a:p>
                      <a:pPr algn="ctr">
                        <a:lnSpc>
                          <a:spcPct val="150000"/>
                        </a:lnSpc>
                      </a:pPr>
                      <a:r>
                        <a:rPr lang="tr-TR" sz="1600" dirty="0"/>
                        <a:t>2,41</a:t>
                      </a:r>
                    </a:p>
                  </a:txBody>
                  <a:tcPr/>
                </a:tc>
                <a:tc>
                  <a:txBody>
                    <a:bodyPr/>
                    <a:lstStyle/>
                    <a:p>
                      <a:pPr algn="ctr">
                        <a:lnSpc>
                          <a:spcPct val="150000"/>
                        </a:lnSpc>
                      </a:pPr>
                      <a:r>
                        <a:rPr lang="tr-TR" sz="1600" dirty="0"/>
                        <a:t>2,40</a:t>
                      </a:r>
                    </a:p>
                  </a:txBody>
                  <a:tcPr/>
                </a:tc>
                <a:tc>
                  <a:txBody>
                    <a:bodyPr/>
                    <a:lstStyle/>
                    <a:p>
                      <a:pPr algn="ctr">
                        <a:lnSpc>
                          <a:spcPct val="150000"/>
                        </a:lnSpc>
                      </a:pPr>
                      <a:r>
                        <a:rPr lang="tr-TR" sz="1600" dirty="0"/>
                        <a:t>2,48</a:t>
                      </a:r>
                    </a:p>
                  </a:txBody>
                  <a:tcPr/>
                </a:tc>
                <a:tc>
                  <a:txBody>
                    <a:bodyPr/>
                    <a:lstStyle/>
                    <a:p>
                      <a:pPr algn="ctr">
                        <a:lnSpc>
                          <a:spcPct val="150000"/>
                        </a:lnSpc>
                      </a:pPr>
                      <a:r>
                        <a:rPr lang="tr-TR" sz="1600" dirty="0"/>
                        <a:t>&gt;0,05</a:t>
                      </a:r>
                    </a:p>
                  </a:txBody>
                  <a:tcPr/>
                </a:tc>
                <a:extLst>
                  <a:ext uri="{0D108BD9-81ED-4DB2-BD59-A6C34878D82A}">
                    <a16:rowId xmlns:a16="http://schemas.microsoft.com/office/drawing/2014/main" val="1779847607"/>
                  </a:ext>
                </a:extLst>
              </a:tr>
              <a:tr h="370840">
                <a:tc>
                  <a:txBody>
                    <a:bodyPr/>
                    <a:lstStyle/>
                    <a:p>
                      <a:pPr algn="ctr">
                        <a:lnSpc>
                          <a:spcPct val="150000"/>
                        </a:lnSpc>
                      </a:pPr>
                      <a:r>
                        <a:rPr lang="tr-TR" sz="1600" dirty="0"/>
                        <a:t>Kişilere Ulaşmak</a:t>
                      </a:r>
                    </a:p>
                  </a:txBody>
                  <a:tcPr/>
                </a:tc>
                <a:tc>
                  <a:txBody>
                    <a:bodyPr/>
                    <a:lstStyle/>
                    <a:p>
                      <a:pPr algn="ctr">
                        <a:lnSpc>
                          <a:spcPct val="150000"/>
                        </a:lnSpc>
                      </a:pPr>
                      <a:r>
                        <a:rPr lang="tr-TR" sz="1600" dirty="0"/>
                        <a:t>2,28</a:t>
                      </a:r>
                    </a:p>
                  </a:txBody>
                  <a:tcPr/>
                </a:tc>
                <a:tc>
                  <a:txBody>
                    <a:bodyPr/>
                    <a:lstStyle/>
                    <a:p>
                      <a:pPr algn="ctr">
                        <a:lnSpc>
                          <a:spcPct val="150000"/>
                        </a:lnSpc>
                      </a:pPr>
                      <a:r>
                        <a:rPr lang="tr-TR" sz="1600" dirty="0"/>
                        <a:t>2,53</a:t>
                      </a:r>
                    </a:p>
                  </a:txBody>
                  <a:tcPr/>
                </a:tc>
                <a:tc>
                  <a:txBody>
                    <a:bodyPr/>
                    <a:lstStyle/>
                    <a:p>
                      <a:pPr algn="ctr">
                        <a:lnSpc>
                          <a:spcPct val="150000"/>
                        </a:lnSpc>
                      </a:pPr>
                      <a:r>
                        <a:rPr lang="tr-TR" sz="1600" dirty="0"/>
                        <a:t>2,83</a:t>
                      </a:r>
                    </a:p>
                  </a:txBody>
                  <a:tcPr/>
                </a:tc>
                <a:tc>
                  <a:txBody>
                    <a:bodyPr/>
                    <a:lstStyle/>
                    <a:p>
                      <a:pPr algn="ctr">
                        <a:lnSpc>
                          <a:spcPct val="150000"/>
                        </a:lnSpc>
                      </a:pPr>
                      <a:r>
                        <a:rPr lang="tr-TR" sz="1600" b="1" dirty="0"/>
                        <a:t>&lt;0,05</a:t>
                      </a:r>
                    </a:p>
                  </a:txBody>
                  <a:tcPr/>
                </a:tc>
                <a:extLst>
                  <a:ext uri="{0D108BD9-81ED-4DB2-BD59-A6C34878D82A}">
                    <a16:rowId xmlns:a16="http://schemas.microsoft.com/office/drawing/2014/main" val="80562313"/>
                  </a:ext>
                </a:extLst>
              </a:tr>
              <a:tr h="370840">
                <a:tc>
                  <a:txBody>
                    <a:bodyPr/>
                    <a:lstStyle/>
                    <a:p>
                      <a:pPr algn="ctr">
                        <a:lnSpc>
                          <a:spcPct val="150000"/>
                        </a:lnSpc>
                      </a:pPr>
                      <a:r>
                        <a:rPr lang="tr-TR" sz="1600" dirty="0"/>
                        <a:t>Fikir Alışverişinde Bulunmak</a:t>
                      </a:r>
                    </a:p>
                  </a:txBody>
                  <a:tcPr/>
                </a:tc>
                <a:tc>
                  <a:txBody>
                    <a:bodyPr/>
                    <a:lstStyle/>
                    <a:p>
                      <a:pPr algn="ctr">
                        <a:lnSpc>
                          <a:spcPct val="150000"/>
                        </a:lnSpc>
                      </a:pPr>
                      <a:r>
                        <a:rPr lang="tr-TR" sz="1600" dirty="0"/>
                        <a:t>2,35</a:t>
                      </a:r>
                    </a:p>
                  </a:txBody>
                  <a:tcPr/>
                </a:tc>
                <a:tc>
                  <a:txBody>
                    <a:bodyPr/>
                    <a:lstStyle/>
                    <a:p>
                      <a:pPr algn="ctr">
                        <a:lnSpc>
                          <a:spcPct val="150000"/>
                        </a:lnSpc>
                      </a:pPr>
                      <a:r>
                        <a:rPr lang="tr-TR" sz="1600" dirty="0"/>
                        <a:t>2,61</a:t>
                      </a:r>
                    </a:p>
                  </a:txBody>
                  <a:tcPr/>
                </a:tc>
                <a:tc>
                  <a:txBody>
                    <a:bodyPr/>
                    <a:lstStyle/>
                    <a:p>
                      <a:pPr algn="ctr">
                        <a:lnSpc>
                          <a:spcPct val="150000"/>
                        </a:lnSpc>
                      </a:pPr>
                      <a:r>
                        <a:rPr lang="tr-TR" sz="1600" dirty="0"/>
                        <a:t>2,83</a:t>
                      </a:r>
                    </a:p>
                  </a:txBody>
                  <a:tcPr/>
                </a:tc>
                <a:tc>
                  <a:txBody>
                    <a:bodyPr/>
                    <a:lstStyle/>
                    <a:p>
                      <a:pPr algn="ctr">
                        <a:lnSpc>
                          <a:spcPct val="150000"/>
                        </a:lnSpc>
                      </a:pPr>
                      <a:r>
                        <a:rPr lang="tr-TR" sz="1600" b="1" dirty="0"/>
                        <a:t>&lt;0,05</a:t>
                      </a:r>
                    </a:p>
                  </a:txBody>
                  <a:tcPr/>
                </a:tc>
                <a:extLst>
                  <a:ext uri="{0D108BD9-81ED-4DB2-BD59-A6C34878D82A}">
                    <a16:rowId xmlns:a16="http://schemas.microsoft.com/office/drawing/2014/main" val="2382747826"/>
                  </a:ext>
                </a:extLst>
              </a:tr>
              <a:tr h="370840">
                <a:tc>
                  <a:txBody>
                    <a:bodyPr/>
                    <a:lstStyle/>
                    <a:p>
                      <a:pPr algn="ctr">
                        <a:lnSpc>
                          <a:spcPct val="150000"/>
                        </a:lnSpc>
                      </a:pPr>
                      <a:r>
                        <a:rPr lang="tr-TR" sz="1600" dirty="0"/>
                        <a:t>Bilgiye Erişmek</a:t>
                      </a:r>
                    </a:p>
                  </a:txBody>
                  <a:tcPr/>
                </a:tc>
                <a:tc>
                  <a:txBody>
                    <a:bodyPr/>
                    <a:lstStyle/>
                    <a:p>
                      <a:pPr algn="ctr">
                        <a:lnSpc>
                          <a:spcPct val="150000"/>
                        </a:lnSpc>
                      </a:pPr>
                      <a:r>
                        <a:rPr lang="tr-TR" sz="1600" dirty="0"/>
                        <a:t>3,16</a:t>
                      </a:r>
                    </a:p>
                  </a:txBody>
                  <a:tcPr/>
                </a:tc>
                <a:tc>
                  <a:txBody>
                    <a:bodyPr/>
                    <a:lstStyle/>
                    <a:p>
                      <a:pPr algn="ctr">
                        <a:lnSpc>
                          <a:spcPct val="150000"/>
                        </a:lnSpc>
                      </a:pPr>
                      <a:r>
                        <a:rPr lang="tr-TR" sz="1600" dirty="0"/>
                        <a:t>3,23</a:t>
                      </a:r>
                    </a:p>
                  </a:txBody>
                  <a:tcPr/>
                </a:tc>
                <a:tc>
                  <a:txBody>
                    <a:bodyPr/>
                    <a:lstStyle/>
                    <a:p>
                      <a:pPr algn="ctr">
                        <a:lnSpc>
                          <a:spcPct val="150000"/>
                        </a:lnSpc>
                      </a:pPr>
                      <a:r>
                        <a:rPr lang="tr-TR" sz="1600" dirty="0"/>
                        <a:t>3,46</a:t>
                      </a:r>
                    </a:p>
                  </a:txBody>
                  <a:tcPr/>
                </a:tc>
                <a:tc>
                  <a:txBody>
                    <a:bodyPr/>
                    <a:lstStyle/>
                    <a:p>
                      <a:pPr algn="ctr">
                        <a:lnSpc>
                          <a:spcPct val="150000"/>
                        </a:lnSpc>
                      </a:pPr>
                      <a:r>
                        <a:rPr lang="tr-TR" sz="1600" dirty="0"/>
                        <a:t>&gt;0,05</a:t>
                      </a:r>
                    </a:p>
                  </a:txBody>
                  <a:tcPr/>
                </a:tc>
                <a:extLst>
                  <a:ext uri="{0D108BD9-81ED-4DB2-BD59-A6C34878D82A}">
                    <a16:rowId xmlns:a16="http://schemas.microsoft.com/office/drawing/2014/main" val="195707267"/>
                  </a:ext>
                </a:extLst>
              </a:tr>
            </a:tbl>
          </a:graphicData>
        </a:graphic>
      </p:graphicFrame>
    </p:spTree>
    <p:extLst>
      <p:ext uri="{BB962C8B-B14F-4D97-AF65-F5344CB8AC3E}">
        <p14:creationId xmlns:p14="http://schemas.microsoft.com/office/powerpoint/2010/main" val="2417010708"/>
      </p:ext>
    </p:extLst>
  </p:cSld>
  <p:clrMapOvr>
    <a:masterClrMapping/>
  </p:clrMapOvr>
</p:sld>
</file>

<file path=ppt/theme/theme1.xml><?xml version="1.0" encoding="utf-8"?>
<a:theme xmlns:a="http://schemas.openxmlformats.org/drawingml/2006/main" name="Office Theme">
  <a:themeElements>
    <a:clrScheme name="Özel 1">
      <a:dk1>
        <a:sysClr val="windowText" lastClr="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eması">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565</TotalTime>
  <Words>776</Words>
  <Application>Microsoft Office PowerPoint</Application>
  <PresentationFormat>Özel</PresentationFormat>
  <Paragraphs>235</Paragraphs>
  <Slides>1</Slides>
  <Notes>1</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vt:i4>
      </vt:variant>
    </vt:vector>
  </HeadingPairs>
  <TitlesOfParts>
    <vt:vector size="6" baseType="lpstr">
      <vt:lpstr>Arial</vt:lpstr>
      <vt:lpstr>Calibri</vt:lpstr>
      <vt:lpstr>Calibri Light</vt:lpstr>
      <vt:lpstr>Times New Roman</vt:lpstr>
      <vt:lpstr>Office Theme</vt:lpstr>
      <vt:lpstr>PowerPoint Sunusu</vt:lpstr>
    </vt:vector>
  </TitlesOfParts>
  <Company>Pamukkale Üniversitesi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TÜKETİCİ TİPLERİ VE E-PLANSIZ ALIŞVERİŞ MEHMET YILMAZ mehmetylmaz821@gmail.com Bu tez çalışması Öğretim Üyesi Doç. Dr. Çetin Kalbura ve Prof. Dr. Selçuk Burak Haşıloğlu danışmanlıklarında yapılmıştır PAÜ Yönetim Bilişim Sistemleri Lisans Tezi 30 mayıs 2019</dc:title>
  <dc:creator>Pau</dc:creator>
  <cp:lastModifiedBy>EYLEM LALEK</cp:lastModifiedBy>
  <cp:revision>14</cp:revision>
  <dcterms:created xsi:type="dcterms:W3CDTF">2019-05-13T14:16:24Z</dcterms:created>
  <dcterms:modified xsi:type="dcterms:W3CDTF">2025-06-01T18:06:02Z</dcterms:modified>
</cp:coreProperties>
</file>